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8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57" r:id="rId17"/>
    <p:sldId id="272" r:id="rId18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(₹ Lakhs)</c:v>
                </c:pt>
              </c:strCache>
            </c:strRef>
          </c:tx>
          <c:spPr>
            <a:solidFill>
              <a:srgbClr val="22C55E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22C55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2C55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2C55E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2C55E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22C55E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22C55E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22C55E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22C55E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22C55E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22C55E"/>
              </a:solidFill>
              <a:effectLst/>
            </c:spPr>
          </c:dPt>
          <c:dPt>
            <c:idx val="10"/>
            <c:invertIfNegative val="0"/>
            <c:bubble3D val="0"/>
            <c:spPr>
              <a:solidFill>
                <a:srgbClr val="2E4FA3"/>
              </a:solidFill>
              <a:effectLst/>
            </c:spPr>
          </c:dPt>
          <c:dPt>
            <c:idx val="11"/>
            <c:invertIfNegative val="0"/>
            <c:bubble3D val="0"/>
            <c:spPr>
              <a:solidFill>
                <a:srgbClr val="2E4FA3"/>
              </a:solidFill>
              <a:effectLst/>
            </c:spPr>
          </c:dPt>
          <c:dPt>
            <c:idx val="12"/>
            <c:invertIfNegative val="0"/>
            <c:bubble3D val="0"/>
            <c:spPr>
              <a:solidFill>
                <a:srgbClr val="2E4FA3"/>
              </a:solidFill>
              <a:effectLst/>
            </c:spPr>
          </c:dPt>
          <c:dPt>
            <c:idx val="13"/>
            <c:invertIfNegative val="0"/>
            <c:bubble3D val="0"/>
            <c:spPr>
              <a:solidFill>
                <a:srgbClr val="2E4FA3"/>
              </a:solidFill>
              <a:effectLst/>
            </c:spPr>
          </c:dPt>
          <c:dPt>
            <c:idx val="14"/>
            <c:invertIfNegative val="0"/>
            <c:bubble3D val="0"/>
            <c:spPr>
              <a:solidFill>
                <a:srgbClr val="2E4FA3"/>
              </a:solidFill>
              <a:effectLst/>
            </c:spPr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200" b="0" i="0" u="none" strike="noStrike" kern="1200" baseline="0">
                    <a:solidFill>
                      <a:srgbClr val="12183A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Sheet1!$A$2:$A$16</c:f>
              <c:strCache>
                <c:ptCount val="15"/>
                <c:pt idx="0">
                  <c:v>Pampers 52</c:v>
                </c:pt>
                <c:pt idx="1">
                  <c:v>Huggies 44</c:v>
                </c:pt>
                <c:pt idx="2">
                  <c:v>Wheat Flour</c:v>
                </c:pt>
                <c:pt idx="3">
                  <c:v>Ariel 2kg</c:v>
                </c:pt>
                <c:pt idx="4">
                  <c:v>Horlicks</c:v>
                </c:pt>
                <c:pt idx="5">
                  <c:v>Surf Excel</c:v>
                </c:pt>
                <c:pt idx="6">
                  <c:v>Basmati 5kg</c:v>
                </c:pt>
                <c:pt idx="7">
                  <c:v>Sona Masoori</c:v>
                </c:pt>
                <c:pt idx="8">
                  <c:v>Bru Coffee</c:v>
                </c:pt>
                <c:pt idx="9">
                  <c:v>A4 Paper</c:v>
                </c:pt>
                <c:pt idx="10">
                  <c:v>Tata Salt</c:v>
                </c:pt>
                <c:pt idx="11">
                  <c:v>Amul Butter</c:v>
                </c:pt>
                <c:pt idx="12">
                  <c:v>Dettol</c:v>
                </c:pt>
                <c:pt idx="13">
                  <c:v>Colgate</c:v>
                </c:pt>
                <c:pt idx="14">
                  <c:v>Real Juice</c:v>
                </c:pt>
              </c:strCache>
            </c: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18.9</c:v>
                </c:pt>
                <c:pt idx="1">
                  <c:v>17.6</c:v>
                </c:pt>
                <c:pt idx="2">
                  <c:v>16</c:v>
                </c:pt>
                <c:pt idx="3">
                  <c:v>12.3</c:v>
                </c:pt>
                <c:pt idx="4">
                  <c:v>11.9</c:v>
                </c:pt>
                <c:pt idx="5">
                  <c:v>11.1</c:v>
                </c:pt>
                <c:pt idx="6">
                  <c:v>10.9</c:v>
                </c:pt>
                <c:pt idx="7">
                  <c:v>10.2</c:v>
                </c:pt>
                <c:pt idx="8">
                  <c:v>10.2</c:v>
                </c:pt>
                <c:pt idx="9">
                  <c:v>10.2</c:v>
                </c:pt>
                <c:pt idx="10">
                  <c:v>9.9</c:v>
                </c:pt>
                <c:pt idx="11">
                  <c:v>9.5</c:v>
                </c:pt>
                <c:pt idx="12">
                  <c:v>9.1</c:v>
                </c:pt>
                <c:pt idx="13">
                  <c:v>8.8</c:v>
                </c:pt>
                <c:pt idx="14">
                  <c:v>8.2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12183A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64748B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e1cbcb0f-c608-4822-ab8b-6f3776dbc363}"/>
      </c:ext>
    </c:extLst>
  </c:chart>
  <c:spPr>
    <a:solidFill>
      <a:srgbClr val="F4F6FC"/>
    </a:solidFill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(₹L)</c:v>
                </c:pt>
              </c:strCache>
            </c:strRef>
          </c:tx>
          <c:spPr>
            <a:solidFill>
              <a:srgbClr val="12183A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800" b="0" i="0" u="none" strike="noStrike" kern="1200" baseline="0">
                    <a:solidFill>
                      <a:srgbClr val="FFFFFF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Sheet1!$A$2:$A$11</c:f>
              <c:strCache>
                <c:ptCount val="10"/>
                <c:pt idx="0">
                  <c:v>Grocery &amp; Staples</c:v>
                </c:pt>
                <c:pt idx="1">
                  <c:v>Beverages</c:v>
                </c:pt>
                <c:pt idx="2">
                  <c:v>Baby &amp; Kids</c:v>
                </c:pt>
                <c:pt idx="3">
                  <c:v>Household</c:v>
                </c:pt>
                <c:pt idx="4">
                  <c:v>Personal Care</c:v>
                </c:pt>
                <c:pt idx="5">
                  <c:v>Dairy &amp; Eggs</c:v>
                </c:pt>
                <c:pt idx="6">
                  <c:v>Health &amp; Wellness</c:v>
                </c:pt>
                <c:pt idx="7">
                  <c:v>Snacks &amp; Biscuits</c:v>
                </c:pt>
                <c:pt idx="8">
                  <c:v>Frozen &amp; Packaged</c:v>
                </c:pt>
                <c:pt idx="9">
                  <c:v>Stationery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85.2</c:v>
                </c:pt>
                <c:pt idx="1">
                  <c:v>61</c:v>
                </c:pt>
                <c:pt idx="2">
                  <c:v>58.3</c:v>
                </c:pt>
                <c:pt idx="3">
                  <c:v>41.2</c:v>
                </c:pt>
                <c:pt idx="4">
                  <c:v>40.9</c:v>
                </c:pt>
                <c:pt idx="5">
                  <c:v>25.8</c:v>
                </c:pt>
                <c:pt idx="6">
                  <c:v>22</c:v>
                </c:pt>
                <c:pt idx="7">
                  <c:v>16.2</c:v>
                </c:pt>
                <c:pt idx="8">
                  <c:v>15.3</c:v>
                </c:pt>
                <c:pt idx="9">
                  <c:v>14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Profit (₹L)</c:v>
                </c:pt>
              </c:strCache>
            </c:strRef>
          </c:tx>
          <c:spPr>
            <a:solidFill>
              <a:srgbClr val="F5A623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800" b="0" i="0" u="none" strike="noStrike" kern="1200" baseline="0">
                    <a:solidFill>
                      <a:srgbClr val="FFFFFF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Sheet1!$A$2:$A$11</c:f>
              <c:strCache>
                <c:ptCount val="10"/>
                <c:pt idx="0">
                  <c:v>Grocery &amp; Staples</c:v>
                </c:pt>
                <c:pt idx="1">
                  <c:v>Beverages</c:v>
                </c:pt>
                <c:pt idx="2">
                  <c:v>Baby &amp; Kids</c:v>
                </c:pt>
                <c:pt idx="3">
                  <c:v>Household</c:v>
                </c:pt>
                <c:pt idx="4">
                  <c:v>Personal Care</c:v>
                </c:pt>
                <c:pt idx="5">
                  <c:v>Dairy &amp; Eggs</c:v>
                </c:pt>
                <c:pt idx="6">
                  <c:v>Health &amp; Wellness</c:v>
                </c:pt>
                <c:pt idx="7">
                  <c:v>Snacks &amp; Biscuits</c:v>
                </c:pt>
                <c:pt idx="8">
                  <c:v>Frozen &amp; Packaged</c:v>
                </c:pt>
                <c:pt idx="9">
                  <c:v>Stationery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45.2</c:v>
                </c:pt>
                <c:pt idx="1">
                  <c:v>30.5</c:v>
                </c:pt>
                <c:pt idx="2">
                  <c:v>29.3</c:v>
                </c:pt>
                <c:pt idx="3">
                  <c:v>20.7</c:v>
                </c:pt>
                <c:pt idx="4">
                  <c:v>20.5</c:v>
                </c:pt>
                <c:pt idx="5">
                  <c:v>13</c:v>
                </c:pt>
                <c:pt idx="6">
                  <c:v>11.1</c:v>
                </c:pt>
                <c:pt idx="7">
                  <c:v>8.2</c:v>
                </c:pt>
                <c:pt idx="8">
                  <c:v>7.7</c:v>
                </c:pt>
                <c:pt idx="9">
                  <c:v>7.1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12183A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 cmpd="sng" algn="ctr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64748B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ayout/>
      <c:overlay val="0"/>
      <c:txPr>
        <a:bodyPr rot="0" spcFirstLastPara="0" vertOverflow="ellipsis" vert="horz" wrap="square" anchor="ctr" anchorCtr="1"/>
        <a:lstStyle/>
        <a:p>
          <a:pPr>
            <a:defRPr lang="en-US" sz="10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f0dc7894-21e2-4ef7-a8ef-bdd4b0062554}"/>
      </c:ext>
    </c:extLst>
  </c:chart>
  <c:spPr>
    <a:solidFill>
      <a:srgbClr val="F4F6FC"/>
    </a:solidFill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Margin %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5A623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F4444"/>
              </a:solidFill>
              <a:effectLst/>
            </c:spPr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200" b="0" i="0" u="none" strike="noStrike" kern="1200" baseline="0">
                    <a:solidFill>
                      <a:srgbClr val="FFFFFF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Sheet1!$A$2:$A$4</c:f>
              <c:strCache>
                <c:ptCount val="3"/>
                <c:pt idx="0">
                  <c:v>0% Discount
(n=22,251)</c:v>
                </c:pt>
                <c:pt idx="1">
                  <c:v>10% Discount
(n=11,109)</c:v>
                </c:pt>
                <c:pt idx="2">
                  <c:v>20% Discount
(n=16,640)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54.9</c:v>
                </c:pt>
                <c:pt idx="1">
                  <c:v>50.6</c:v>
                </c:pt>
                <c:pt idx="2">
                  <c:v>44.2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12183A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60"/>
          <c:min val="40"/>
        </c:scaling>
        <c:delete val="0"/>
        <c:axPos val="l"/>
        <c:majorGridlines>
          <c:spPr>
            <a:ln w="6350" cap="flat" cmpd="sng" algn="ctr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64748B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6aad1e83-f097-4cf1-86bb-450125a8dba3}"/>
      </c:ext>
    </c:extLst>
  </c:chart>
  <c:spPr>
    <a:solidFill>
      <a:srgbClr val="F4F6FC"/>
    </a:solidFill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8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943600" cy="5143500"/>
          </a:xfrm>
          <a:prstGeom prst="rect">
            <a:avLst/>
          </a:prstGeom>
          <a:solidFill>
            <a:srgbClr val="1E2B54"/>
          </a:solidFill>
        </p:spPr>
      </p:sp>
      <p:sp>
        <p:nvSpPr>
          <p:cNvPr id="3" name="Shape 1"/>
          <p:cNvSpPr/>
          <p:nvPr/>
        </p:nvSpPr>
        <p:spPr>
          <a:xfrm>
            <a:off x="5943600" y="0"/>
            <a:ext cx="64008" cy="5143500"/>
          </a:xfrm>
          <a:prstGeom prst="rect">
            <a:avLst/>
          </a:prstGeom>
          <a:solidFill>
            <a:srgbClr val="F5A623"/>
          </a:solidFill>
        </p:spPr>
      </p:sp>
      <p:sp>
        <p:nvSpPr>
          <p:cNvPr id="4" name="Shape 2"/>
          <p:cNvSpPr/>
          <p:nvPr/>
        </p:nvSpPr>
        <p:spPr>
          <a:xfrm>
            <a:off x="457200" y="502920"/>
            <a:ext cx="2011680" cy="347472"/>
          </a:xfrm>
          <a:prstGeom prst="rect">
            <a:avLst/>
          </a:prstGeom>
          <a:solidFill>
            <a:srgbClr val="F5A623"/>
          </a:solidFill>
        </p:spPr>
      </p:sp>
      <p:sp>
        <p:nvSpPr>
          <p:cNvPr id="5" name="Text 3"/>
          <p:cNvSpPr/>
          <p:nvPr/>
        </p:nvSpPr>
        <p:spPr>
          <a:xfrm>
            <a:off x="457200" y="502920"/>
            <a:ext cx="20116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2183A"/>
                </a:solidFill>
              </a:rPr>
              <a:t>🛒 SUPERMART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53035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5A623"/>
                </a:solidFill>
              </a:rPr>
              <a:t>CASE STUDY 3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5303520" cy="1280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</a:rPr>
              <a:t>Product Profitability</a:t>
            </a:r>
            <a:endParaRPr lang="en-US" sz="3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</a:rPr>
              <a:t>&amp; ABC Analysis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457200" y="2788920"/>
            <a:ext cx="530352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AABBD4"/>
                </a:solidFill>
              </a:rPr>
              <a:t>Strategic inventory classification &amp; margin optimization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AABBD4"/>
                </a:solidFill>
              </a:rPr>
              <a:t>for 65 products across 10 categories | 50,000 orders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0" y="4754880"/>
            <a:ext cx="5943600" cy="388620"/>
          </a:xfrm>
          <a:prstGeom prst="rect">
            <a:avLst/>
          </a:prstGeom>
          <a:solidFill>
            <a:srgbClr val="2E4FA3"/>
          </a:solidFill>
        </p:spPr>
      </p:sp>
      <p:sp>
        <p:nvSpPr>
          <p:cNvPr id="10" name="Text 8"/>
          <p:cNvSpPr/>
          <p:nvPr/>
        </p:nvSpPr>
        <p:spPr>
          <a:xfrm>
            <a:off x="182880" y="4796155"/>
            <a:ext cx="5577840" cy="3886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FY 2022–2024   |   Total Revenue: ₹3.8 Cr   |   Total Profit: ₹1.93 Cr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217920" y="548640"/>
            <a:ext cx="26517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5A623"/>
                </a:solidFill>
              </a:rPr>
              <a:t>65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217920" y="1024128"/>
            <a:ext cx="265176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kern="0" spc="100" dirty="0">
                <a:solidFill>
                  <a:srgbClr val="AABBD4"/>
                </a:solidFill>
              </a:rPr>
              <a:t>Products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217920" y="1463040"/>
            <a:ext cx="26517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5A623"/>
                </a:solidFill>
              </a:rPr>
              <a:t>10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217920" y="1938528"/>
            <a:ext cx="265176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kern="0" spc="100" dirty="0">
                <a:solidFill>
                  <a:srgbClr val="AABBD4"/>
                </a:solidFill>
              </a:rPr>
              <a:t>Categories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217920" y="2377440"/>
            <a:ext cx="26517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5A623"/>
                </a:solidFill>
              </a:rPr>
              <a:t>50K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217920" y="2852928"/>
            <a:ext cx="265176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kern="0" spc="100" dirty="0">
                <a:solidFill>
                  <a:srgbClr val="AABBD4"/>
                </a:solidFill>
              </a:rPr>
              <a:t>Orders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217920" y="3291840"/>
            <a:ext cx="26517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5A623"/>
                </a:solidFill>
              </a:rPr>
              <a:t>₹3.8Cr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217920" y="3767328"/>
            <a:ext cx="265176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kern="0" spc="100" dirty="0">
                <a:solidFill>
                  <a:srgbClr val="AABBD4"/>
                </a:solidFill>
              </a:rPr>
              <a:t>Revenue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217920" y="4206240"/>
            <a:ext cx="26517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5A623"/>
                </a:solidFill>
              </a:rPr>
              <a:t>50.8%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6217920" y="4681728"/>
            <a:ext cx="265176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kern="0" spc="100" dirty="0">
                <a:solidFill>
                  <a:srgbClr val="AABBD4"/>
                </a:solidFill>
              </a:rPr>
              <a:t>Avg Margin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2183A"/>
          </a:solidFill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BUSINESS CONTEXT &amp; PROBLEM STATEMENT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2194560" cy="256032"/>
          </a:xfrm>
          <a:prstGeom prst="rect">
            <a:avLst/>
          </a:prstGeom>
          <a:solidFill>
            <a:srgbClr val="F5A623"/>
          </a:solidFill>
        </p:spPr>
      </p:sp>
      <p:sp>
        <p:nvSpPr>
          <p:cNvPr id="5" name="Text 3"/>
          <p:cNvSpPr/>
          <p:nvPr/>
        </p:nvSpPr>
        <p:spPr>
          <a:xfrm>
            <a:off x="274320" y="749808"/>
            <a:ext cx="21945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12183A"/>
                </a:solidFill>
              </a:rPr>
              <a:t>CASE STUDY 3 — OVERVIEW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28600" y="1097280"/>
            <a:ext cx="2743200" cy="3474720"/>
          </a:xfrm>
          <a:prstGeom prst="rect">
            <a:avLst/>
          </a:prstGeom>
          <a:solidFill>
            <a:srgbClr val="F4F6FC"/>
          </a:solidFill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1097280"/>
            <a:ext cx="2743200" cy="502920"/>
          </a:xfrm>
          <a:prstGeom prst="rect">
            <a:avLst/>
          </a:prstGeom>
          <a:solidFill>
            <a:srgbClr val="12183A"/>
          </a:solidFill>
        </p:spPr>
      </p:sp>
      <p:sp>
        <p:nvSpPr>
          <p:cNvPr id="8" name="Text 6"/>
          <p:cNvSpPr/>
          <p:nvPr/>
        </p:nvSpPr>
        <p:spPr>
          <a:xfrm>
            <a:off x="320040" y="1097280"/>
            <a:ext cx="25603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📦  Category Manager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93192" y="1783080"/>
            <a:ext cx="201168" cy="201168"/>
          </a:xfrm>
          <a:prstGeom prst="ellipse">
            <a:avLst/>
          </a:prstGeom>
          <a:solidFill>
            <a:srgbClr val="12183A"/>
          </a:solidFill>
        </p:spPr>
      </p:sp>
      <p:sp>
        <p:nvSpPr>
          <p:cNvPr id="10" name="Text 8"/>
          <p:cNvSpPr/>
          <p:nvPr/>
        </p:nvSpPr>
        <p:spPr>
          <a:xfrm>
            <a:off x="667512" y="1719072"/>
            <a:ext cx="21945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E2B54"/>
                </a:solidFill>
              </a:rPr>
              <a:t>65 products across 10 categories &amp; 25 sub-categories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93192" y="2606040"/>
            <a:ext cx="201168" cy="201168"/>
          </a:xfrm>
          <a:prstGeom prst="ellipse">
            <a:avLst/>
          </a:prstGeom>
          <a:solidFill>
            <a:srgbClr val="12183A"/>
          </a:solidFill>
        </p:spPr>
      </p:sp>
      <p:sp>
        <p:nvSpPr>
          <p:cNvPr id="12" name="Text 10"/>
          <p:cNvSpPr/>
          <p:nvPr/>
        </p:nvSpPr>
        <p:spPr>
          <a:xfrm>
            <a:off x="667512" y="2542032"/>
            <a:ext cx="21945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E2B54"/>
                </a:solidFill>
              </a:rPr>
              <a:t>Identify which products to promote vs discontinue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93192" y="3429000"/>
            <a:ext cx="201168" cy="201168"/>
          </a:xfrm>
          <a:prstGeom prst="ellipse">
            <a:avLst/>
          </a:prstGeom>
          <a:solidFill>
            <a:srgbClr val="12183A"/>
          </a:solidFill>
        </p:spPr>
      </p:sp>
      <p:sp>
        <p:nvSpPr>
          <p:cNvPr id="14" name="Text 12"/>
          <p:cNvSpPr/>
          <p:nvPr/>
        </p:nvSpPr>
        <p:spPr>
          <a:xfrm>
            <a:off x="667512" y="3364992"/>
            <a:ext cx="21945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E2B54"/>
                </a:solidFill>
              </a:rPr>
              <a:t>Prioritize high-margin SKUs for shelf space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200400" y="1097280"/>
            <a:ext cx="2743200" cy="3474720"/>
          </a:xfrm>
          <a:prstGeom prst="rect">
            <a:avLst/>
          </a:prstGeom>
          <a:solidFill>
            <a:srgbClr val="F4F6FC"/>
          </a:solidFill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0" y="1097280"/>
            <a:ext cx="2743200" cy="502920"/>
          </a:xfrm>
          <a:prstGeom prst="rect">
            <a:avLst/>
          </a:prstGeom>
          <a:solidFill>
            <a:srgbClr val="2E4FA3"/>
          </a:solidFill>
        </p:spPr>
      </p:sp>
      <p:sp>
        <p:nvSpPr>
          <p:cNvPr id="17" name="Text 15"/>
          <p:cNvSpPr/>
          <p:nvPr/>
        </p:nvSpPr>
        <p:spPr>
          <a:xfrm>
            <a:off x="3291840" y="1097280"/>
            <a:ext cx="25603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🚚  Supply Chain Team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364992" y="1783080"/>
            <a:ext cx="201168" cy="201168"/>
          </a:xfrm>
          <a:prstGeom prst="ellipse">
            <a:avLst/>
          </a:prstGeom>
          <a:solidFill>
            <a:srgbClr val="2E4FA3"/>
          </a:solidFill>
        </p:spPr>
      </p:sp>
      <p:sp>
        <p:nvSpPr>
          <p:cNvPr id="19" name="Text 17"/>
          <p:cNvSpPr/>
          <p:nvPr/>
        </p:nvSpPr>
        <p:spPr>
          <a:xfrm>
            <a:off x="3639312" y="1719072"/>
            <a:ext cx="21945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E2B54"/>
                </a:solidFill>
              </a:rPr>
              <a:t>ABC Analysis to prioritize inventory focus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364992" y="2606040"/>
            <a:ext cx="201168" cy="201168"/>
          </a:xfrm>
          <a:prstGeom prst="ellipse">
            <a:avLst/>
          </a:prstGeom>
          <a:solidFill>
            <a:srgbClr val="2E4FA3"/>
          </a:solidFill>
        </p:spPr>
      </p:sp>
      <p:sp>
        <p:nvSpPr>
          <p:cNvPr id="21" name="Text 19"/>
          <p:cNvSpPr/>
          <p:nvPr/>
        </p:nvSpPr>
        <p:spPr>
          <a:xfrm>
            <a:off x="3639312" y="2542032"/>
            <a:ext cx="21945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E2B54"/>
                </a:solidFill>
              </a:rPr>
              <a:t>Reduce working capital tied to slow-moving C products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364992" y="3429000"/>
            <a:ext cx="201168" cy="201168"/>
          </a:xfrm>
          <a:prstGeom prst="ellipse">
            <a:avLst/>
          </a:prstGeom>
          <a:solidFill>
            <a:srgbClr val="2E4FA3"/>
          </a:solidFill>
        </p:spPr>
      </p:sp>
      <p:sp>
        <p:nvSpPr>
          <p:cNvPr id="23" name="Text 21"/>
          <p:cNvSpPr/>
          <p:nvPr/>
        </p:nvSpPr>
        <p:spPr>
          <a:xfrm>
            <a:off x="3639312" y="3364992"/>
            <a:ext cx="21945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E2B54"/>
                </a:solidFill>
              </a:rPr>
              <a:t>Optimize reorder frequency by category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172200" y="1097280"/>
            <a:ext cx="2743200" cy="3474720"/>
          </a:xfrm>
          <a:prstGeom prst="rect">
            <a:avLst/>
          </a:prstGeom>
          <a:solidFill>
            <a:srgbClr val="F4F6FC"/>
          </a:solidFill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72200" y="1097280"/>
            <a:ext cx="2743200" cy="502920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26" name="Text 24"/>
          <p:cNvSpPr/>
          <p:nvPr/>
        </p:nvSpPr>
        <p:spPr>
          <a:xfrm>
            <a:off x="6263640" y="1097280"/>
            <a:ext cx="25603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💰  Finance Team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336792" y="1783080"/>
            <a:ext cx="201168" cy="201168"/>
          </a:xfrm>
          <a:prstGeom prst="ellipse">
            <a:avLst/>
          </a:prstGeom>
          <a:solidFill>
            <a:srgbClr val="0D9488"/>
          </a:solidFill>
        </p:spPr>
      </p:sp>
      <p:sp>
        <p:nvSpPr>
          <p:cNvPr id="28" name="Text 26"/>
          <p:cNvSpPr/>
          <p:nvPr/>
        </p:nvSpPr>
        <p:spPr>
          <a:xfrm>
            <a:off x="6611112" y="1719072"/>
            <a:ext cx="21945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E2B54"/>
                </a:solidFill>
              </a:rPr>
              <a:t>High discounts are killing profit margins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336792" y="2606040"/>
            <a:ext cx="201168" cy="201168"/>
          </a:xfrm>
          <a:prstGeom prst="ellipse">
            <a:avLst/>
          </a:prstGeom>
          <a:solidFill>
            <a:srgbClr val="0D9488"/>
          </a:solidFill>
        </p:spPr>
      </p:sp>
      <p:sp>
        <p:nvSpPr>
          <p:cNvPr id="30" name="Text 28"/>
          <p:cNvSpPr/>
          <p:nvPr/>
        </p:nvSpPr>
        <p:spPr>
          <a:xfrm>
            <a:off x="6611112" y="2542032"/>
            <a:ext cx="21945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E2B54"/>
                </a:solidFill>
              </a:rPr>
              <a:t>Correlation between discount % and margin %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336792" y="3429000"/>
            <a:ext cx="201168" cy="201168"/>
          </a:xfrm>
          <a:prstGeom prst="ellipse">
            <a:avLst/>
          </a:prstGeom>
          <a:solidFill>
            <a:srgbClr val="0D9488"/>
          </a:solidFill>
        </p:spPr>
      </p:sp>
      <p:sp>
        <p:nvSpPr>
          <p:cNvPr id="32" name="Text 30"/>
          <p:cNvSpPr/>
          <p:nvPr/>
        </p:nvSpPr>
        <p:spPr>
          <a:xfrm>
            <a:off x="6611112" y="3364992"/>
            <a:ext cx="21945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E2B54"/>
                </a:solidFill>
              </a:rPr>
              <a:t>Return rate impact on net profitability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228600" y="4663440"/>
            <a:ext cx="8686800" cy="347472"/>
          </a:xfrm>
          <a:prstGeom prst="rect">
            <a:avLst/>
          </a:prstGeom>
          <a:solidFill>
            <a:srgbClr val="F5A623"/>
          </a:solidFill>
        </p:spPr>
      </p:sp>
      <p:sp>
        <p:nvSpPr>
          <p:cNvPr id="34" name="Text 32"/>
          <p:cNvSpPr/>
          <p:nvPr/>
        </p:nvSpPr>
        <p:spPr>
          <a:xfrm>
            <a:off x="320040" y="4663440"/>
            <a:ext cx="850392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2183A"/>
                </a:solidFill>
              </a:rPr>
              <a:t>❓  Problem: Which products generate profit? What is the ABC classification? Does discounting kill margins?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2183A"/>
          </a:solidFill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ABC ANALYSIS — METHODOLOGY &amp; THRESHOLDS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01168" y="777240"/>
            <a:ext cx="2743200" cy="4160520"/>
          </a:xfrm>
          <a:prstGeom prst="rect">
            <a:avLst/>
          </a:prstGeom>
          <a:solidFill>
            <a:srgbClr val="F0FDF4"/>
          </a:solidFill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01168" y="777240"/>
            <a:ext cx="2743200" cy="548640"/>
          </a:xfrm>
          <a:prstGeom prst="rect">
            <a:avLst/>
          </a:prstGeom>
          <a:solidFill>
            <a:srgbClr val="22C55E"/>
          </a:solidFill>
        </p:spPr>
      </p:sp>
      <p:sp>
        <p:nvSpPr>
          <p:cNvPr id="6" name="Text 4"/>
          <p:cNvSpPr/>
          <p:nvPr/>
        </p:nvSpPr>
        <p:spPr>
          <a:xfrm>
            <a:off x="201168" y="777240"/>
            <a:ext cx="27432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A — CLASS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38328" y="1463040"/>
            <a:ext cx="10058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4748B"/>
                </a:solidFill>
              </a:rPr>
              <a:t>Threshold: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344168" y="1463040"/>
            <a:ext cx="14630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2C55E"/>
                </a:solidFill>
              </a:rPr>
              <a:t>Top 70% Revenue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38328" y="1965960"/>
            <a:ext cx="10058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Count: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344168" y="1965960"/>
            <a:ext cx="14630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2C55E"/>
                </a:solidFill>
              </a:rPr>
              <a:t>27 Products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38328" y="2468880"/>
            <a:ext cx="10058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4748B"/>
                </a:solidFill>
              </a:rPr>
              <a:t>SKU Share: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344168" y="2468880"/>
            <a:ext cx="14630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2C55E"/>
                </a:solidFill>
              </a:rPr>
              <a:t>41.5% of SKUs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38328" y="2971800"/>
            <a:ext cx="10058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4748B"/>
                </a:solidFill>
              </a:rPr>
              <a:t>Revenue: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344168" y="2971800"/>
            <a:ext cx="14630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2C55E"/>
                </a:solidFill>
              </a:rPr>
              <a:t>70% Revenue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38328" y="3474720"/>
            <a:ext cx="10058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4748B"/>
                </a:solidFill>
              </a:rPr>
              <a:t>Strategy: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344168" y="3474720"/>
            <a:ext cx="14630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2C55E"/>
                </a:solidFill>
              </a:rPr>
              <a:t>Protect &amp; Promote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38328" y="4069080"/>
            <a:ext cx="2468880" cy="731520"/>
          </a:xfrm>
          <a:prstGeom prst="rect">
            <a:avLst/>
          </a:prstGeom>
          <a:solidFill>
            <a:srgbClr val="22C55E">
              <a:alpha val="15000"/>
            </a:srgbClr>
          </a:solidFill>
        </p:spPr>
      </p:sp>
      <p:sp>
        <p:nvSpPr>
          <p:cNvPr id="18" name="Text 16"/>
          <p:cNvSpPr/>
          <p:nvPr/>
        </p:nvSpPr>
        <p:spPr>
          <a:xfrm>
            <a:off x="402336" y="4114800"/>
            <a:ext cx="2350008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i="1" dirty="0">
                <a:solidFill>
                  <a:srgbClr val="22C55E"/>
                </a:solidFill>
              </a:rPr>
              <a:t>High-value, must-stock items. Maximum shelf space, zero stockout tolerance.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182112" y="777240"/>
            <a:ext cx="2743200" cy="4160520"/>
          </a:xfrm>
          <a:prstGeom prst="rect">
            <a:avLst/>
          </a:prstGeom>
          <a:solidFill>
            <a:srgbClr val="FFFBEB"/>
          </a:solidFill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182112" y="777240"/>
            <a:ext cx="2743200" cy="548640"/>
          </a:xfrm>
          <a:prstGeom prst="rect">
            <a:avLst/>
          </a:prstGeom>
          <a:solidFill>
            <a:srgbClr val="F5A623"/>
          </a:solidFill>
        </p:spPr>
      </p:sp>
      <p:sp>
        <p:nvSpPr>
          <p:cNvPr id="21" name="Text 19"/>
          <p:cNvSpPr/>
          <p:nvPr/>
        </p:nvSpPr>
        <p:spPr>
          <a:xfrm>
            <a:off x="3182112" y="777240"/>
            <a:ext cx="27432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B — CLASS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319272" y="1463040"/>
            <a:ext cx="10058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4748B"/>
                </a:solidFill>
              </a:rPr>
              <a:t>Threshold: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325112" y="1463040"/>
            <a:ext cx="14630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A623"/>
                </a:solidFill>
              </a:rPr>
              <a:t>Next 20% Revenue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319272" y="1965960"/>
            <a:ext cx="10058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Count: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325112" y="1965960"/>
            <a:ext cx="14630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A623"/>
                </a:solidFill>
              </a:rPr>
              <a:t>18 Products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319272" y="2468880"/>
            <a:ext cx="10058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4748B"/>
                </a:solidFill>
              </a:rPr>
              <a:t>SKU Share: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325112" y="2468880"/>
            <a:ext cx="14630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A623"/>
                </a:solidFill>
              </a:rPr>
              <a:t>27.7% of SKUs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319272" y="2971800"/>
            <a:ext cx="10058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4748B"/>
                </a:solidFill>
              </a:rPr>
              <a:t>Revenue: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325112" y="2971800"/>
            <a:ext cx="14630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A623"/>
                </a:solidFill>
              </a:rPr>
              <a:t>20% Revenue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319272" y="3474720"/>
            <a:ext cx="10058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4748B"/>
                </a:solidFill>
              </a:rPr>
              <a:t>Strategy: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325112" y="3474720"/>
            <a:ext cx="14630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A623"/>
                </a:solidFill>
              </a:rPr>
              <a:t>Monitor &amp; Maintain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319272" y="4069080"/>
            <a:ext cx="2468880" cy="731520"/>
          </a:xfrm>
          <a:prstGeom prst="rect">
            <a:avLst/>
          </a:prstGeom>
          <a:solidFill>
            <a:srgbClr val="F5A623">
              <a:alpha val="15000"/>
            </a:srgbClr>
          </a:solidFill>
        </p:spPr>
      </p:sp>
      <p:sp>
        <p:nvSpPr>
          <p:cNvPr id="33" name="Text 31"/>
          <p:cNvSpPr/>
          <p:nvPr/>
        </p:nvSpPr>
        <p:spPr>
          <a:xfrm>
            <a:off x="3383280" y="4114800"/>
            <a:ext cx="2350008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i="1" dirty="0">
                <a:solidFill>
                  <a:srgbClr val="F5A623"/>
                </a:solidFill>
              </a:rPr>
              <a:t>Mid-tier products. Regular review, standard reorder policies.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6163056" y="777240"/>
            <a:ext cx="2743200" cy="4160520"/>
          </a:xfrm>
          <a:prstGeom prst="rect">
            <a:avLst/>
          </a:prstGeom>
          <a:solidFill>
            <a:srgbClr val="FFF1F2"/>
          </a:solidFill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163056" y="777240"/>
            <a:ext cx="2743200" cy="548640"/>
          </a:xfrm>
          <a:prstGeom prst="rect">
            <a:avLst/>
          </a:prstGeom>
          <a:solidFill>
            <a:srgbClr val="EF4444"/>
          </a:solidFill>
        </p:spPr>
      </p:sp>
      <p:sp>
        <p:nvSpPr>
          <p:cNvPr id="36" name="Text 34"/>
          <p:cNvSpPr/>
          <p:nvPr/>
        </p:nvSpPr>
        <p:spPr>
          <a:xfrm>
            <a:off x="6163056" y="777240"/>
            <a:ext cx="27432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C — CLASS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300216" y="1463040"/>
            <a:ext cx="10058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4748B"/>
                </a:solidFill>
              </a:rPr>
              <a:t>Threshold: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7306056" y="1463040"/>
            <a:ext cx="14630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F4444"/>
                </a:solidFill>
              </a:rPr>
              <a:t>Bottom 10% Revenue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300216" y="1965960"/>
            <a:ext cx="10058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Count: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7306056" y="1965960"/>
            <a:ext cx="14630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F4444"/>
                </a:solidFill>
              </a:rPr>
              <a:t>20 Products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300216" y="2468880"/>
            <a:ext cx="10058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4748B"/>
                </a:solidFill>
              </a:rPr>
              <a:t>SKU Share: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7306056" y="2468880"/>
            <a:ext cx="14630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F4444"/>
                </a:solidFill>
              </a:rPr>
              <a:t>30.8% of SKUs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300216" y="2971800"/>
            <a:ext cx="10058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4748B"/>
                </a:solidFill>
              </a:rPr>
              <a:t>Revenue: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7306056" y="2971800"/>
            <a:ext cx="14630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F4444"/>
                </a:solidFill>
              </a:rPr>
              <a:t>10% Revenue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300216" y="3474720"/>
            <a:ext cx="10058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4748B"/>
                </a:solidFill>
              </a:rPr>
              <a:t>Strategy: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7306056" y="3474720"/>
            <a:ext cx="14630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F4444"/>
                </a:solidFill>
              </a:rPr>
              <a:t>Review &amp; Reduce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6300216" y="4069080"/>
            <a:ext cx="2468880" cy="731520"/>
          </a:xfrm>
          <a:prstGeom prst="rect">
            <a:avLst/>
          </a:prstGeom>
          <a:solidFill>
            <a:srgbClr val="EF4444">
              <a:alpha val="15000"/>
            </a:srgbClr>
          </a:solidFill>
        </p:spPr>
      </p:sp>
      <p:sp>
        <p:nvSpPr>
          <p:cNvPr id="48" name="Text 46"/>
          <p:cNvSpPr/>
          <p:nvPr/>
        </p:nvSpPr>
        <p:spPr>
          <a:xfrm>
            <a:off x="6364224" y="4114800"/>
            <a:ext cx="2350008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i="1" dirty="0">
                <a:solidFill>
                  <a:srgbClr val="EF4444"/>
                </a:solidFill>
              </a:rPr>
              <a:t>Low contributors. Candidates for phase-out or consolidation.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2183A"/>
          </a:solidFill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PRODUCT REVENUE SUMMARY — TOP 15 PRODUCTS</a:t>
            </a:r>
            <a:endParaRPr lang="en-US" sz="1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/>
        </p:nvGraphicFramePr>
        <p:xfrm>
          <a:off x="228600" y="685800"/>
          <a:ext cx="8686800" cy="4343408"/>
        </p:xfrm>
        <a:graphic>
          <a:graphicData uri="http://schemas.openxmlformats.org/drawingml/2006/table">
            <a:tbl>
              <a:tblPr/>
              <a:tblGrid>
                <a:gridCol w="320040"/>
                <a:gridCol w="2651760"/>
                <a:gridCol w="1463040"/>
                <a:gridCol w="1463040"/>
                <a:gridCol w="1005840"/>
                <a:gridCol w="640080"/>
              </a:tblGrid>
              <a:tr h="2714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Product Name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Revenue (₹)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Profit (₹)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Margin %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ABC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3A"/>
                    </a:solidFill>
                  </a:tcPr>
                </a:tc>
              </a:tr>
              <a:tr h="2714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</a:rPr>
                        <a:t>1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2183A"/>
                          </a:solidFill>
                        </a:rPr>
                        <a:t>Pampers Small 52-Pack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2183A"/>
                          </a:solidFill>
                        </a:rPr>
                        <a:t>18,90,679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2183A"/>
                          </a:solidFill>
                        </a:rPr>
                        <a:t>9,45,391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2183A"/>
                          </a:solidFill>
                        </a:rPr>
                        <a:t>49.4%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22C55E"/>
                          </a:solidFill>
                        </a:rPr>
                        <a:t>A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  <a:tr h="2714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</a:rPr>
                        <a:t>2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2183A"/>
                          </a:solidFill>
                        </a:rPr>
                        <a:t>Huggies Medium 44-Pack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2183A"/>
                          </a:solidFill>
                        </a:rPr>
                        <a:t>17,59,795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2183A"/>
                          </a:solidFill>
                        </a:rPr>
                        <a:t>8,87,549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2183A"/>
                          </a:solidFill>
                        </a:rPr>
                        <a:t>49.8%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22C55E"/>
                          </a:solidFill>
                        </a:rPr>
                        <a:t>A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14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</a:rPr>
                        <a:t>3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2183A"/>
                          </a:solidFill>
                        </a:rPr>
                        <a:t>Wheat Flour 10kg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2183A"/>
                          </a:solidFill>
                        </a:rPr>
                        <a:t>16,03,599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2183A"/>
                          </a:solidFill>
                        </a:rPr>
                        <a:t>8,03,079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2183A"/>
                          </a:solidFill>
                        </a:rPr>
                        <a:t>49.5%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22C55E"/>
                          </a:solidFill>
                        </a:rPr>
                        <a:t>A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  <a:tr h="2714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</a:rPr>
                        <a:t>4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2183A"/>
                          </a:solidFill>
                        </a:rPr>
                        <a:t>Ariel Powder 2kg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2183A"/>
                          </a:solidFill>
                        </a:rPr>
                        <a:t>12,32,426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2183A"/>
                          </a:solidFill>
                        </a:rPr>
                        <a:t>6,16,256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2183A"/>
                          </a:solidFill>
                        </a:rPr>
                        <a:t>49.6%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22C55E"/>
                          </a:solidFill>
                        </a:rPr>
                        <a:t>A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14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</a:rPr>
                        <a:t>5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2183A"/>
                          </a:solidFill>
                        </a:rPr>
                        <a:t>Horlicks 500g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2183A"/>
                          </a:solidFill>
                        </a:rPr>
                        <a:t>11,91,331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2183A"/>
                          </a:solidFill>
                        </a:rPr>
                        <a:t>5,85,061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2183A"/>
                          </a:solidFill>
                        </a:rPr>
                        <a:t>49.0%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22C55E"/>
                          </a:solidFill>
                        </a:rPr>
                        <a:t>A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  <a:tr h="2714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</a:rPr>
                        <a:t>6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2183A"/>
                          </a:solidFill>
                        </a:rPr>
                        <a:t>Basmati Rice 5kg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2183A"/>
                          </a:solidFill>
                        </a:rPr>
                        <a:t>10,88,665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2183A"/>
                          </a:solidFill>
                        </a:rPr>
                        <a:t>6,06,802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2183A"/>
                          </a:solidFill>
                        </a:rPr>
                        <a:t>55.7%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22C55E"/>
                          </a:solidFill>
                        </a:rPr>
                        <a:t>A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14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</a:rPr>
                        <a:t>7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2183A"/>
                          </a:solidFill>
                        </a:rPr>
                        <a:t>Surf Excel Detergent 2kg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2183A"/>
                          </a:solidFill>
                        </a:rPr>
                        <a:t>11,10,558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2183A"/>
                          </a:solidFill>
                        </a:rPr>
                        <a:t>5,53,738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2183A"/>
                          </a:solidFill>
                        </a:rPr>
                        <a:t>49.8%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22C55E"/>
                          </a:solidFill>
                        </a:rPr>
                        <a:t>A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  <a:tr h="2714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</a:rPr>
                        <a:t>8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2183A"/>
                          </a:solidFill>
                        </a:rPr>
                        <a:t>Sona Masoori 5kg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2183A"/>
                          </a:solidFill>
                        </a:rPr>
                        <a:t>10,18,519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2183A"/>
                          </a:solidFill>
                        </a:rPr>
                        <a:t>5,64,040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2183A"/>
                          </a:solidFill>
                        </a:rPr>
                        <a:t>55.4%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22C55E"/>
                          </a:solidFill>
                        </a:rPr>
                        <a:t>A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14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</a:rPr>
                        <a:t>9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2183A"/>
                          </a:solidFill>
                        </a:rPr>
                        <a:t>Bru Coffee 200g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2183A"/>
                          </a:solidFill>
                        </a:rPr>
                        <a:t>10,22,193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2183A"/>
                          </a:solidFill>
                        </a:rPr>
                        <a:t>5,20,370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2183A"/>
                          </a:solidFill>
                        </a:rPr>
                        <a:t>50.9%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22C55E"/>
                          </a:solidFill>
                        </a:rPr>
                        <a:t>A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  <a:tr h="2714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</a:rPr>
                        <a:t>10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2183A"/>
                          </a:solidFill>
                        </a:rPr>
                        <a:t>A4 Paper 500 Sheets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2183A"/>
                          </a:solidFill>
                        </a:rPr>
                        <a:t>10,24,777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2183A"/>
                          </a:solidFill>
                        </a:rPr>
                        <a:t>5,11,857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2183A"/>
                          </a:solidFill>
                        </a:rPr>
                        <a:t>49.9%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22C55E"/>
                          </a:solidFill>
                        </a:rPr>
                        <a:t>A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14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</a:rPr>
                        <a:t>11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2183A"/>
                          </a:solidFill>
                        </a:rPr>
                        <a:t>Tata Salt 1kg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2183A"/>
                          </a:solidFill>
                        </a:rPr>
                        <a:t>9,87,456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2183A"/>
                          </a:solidFill>
                        </a:rPr>
                        <a:t>4,98,230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2183A"/>
                          </a:solidFill>
                        </a:rPr>
                        <a:t>50.5%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22C55E"/>
                          </a:solidFill>
                        </a:rPr>
                        <a:t>A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  <a:tr h="2714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</a:rPr>
                        <a:t>12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2183A"/>
                          </a:solidFill>
                        </a:rPr>
                        <a:t>Amul Butter 500g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2183A"/>
                          </a:solidFill>
                        </a:rPr>
                        <a:t>9,45,120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2183A"/>
                          </a:solidFill>
                        </a:rPr>
                        <a:t>4,76,890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2183A"/>
                          </a:solidFill>
                        </a:rPr>
                        <a:t>50.4%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22C55E"/>
                          </a:solidFill>
                        </a:rPr>
                        <a:t>A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14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</a:rPr>
                        <a:t>13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2183A"/>
                          </a:solidFill>
                        </a:rPr>
                        <a:t>Dettol Handwash 200ml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2183A"/>
                          </a:solidFill>
                        </a:rPr>
                        <a:t>9,12,678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2183A"/>
                          </a:solidFill>
                        </a:rPr>
                        <a:t>4,55,340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2183A"/>
                          </a:solidFill>
                        </a:rPr>
                        <a:t>49.9%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22C55E"/>
                          </a:solidFill>
                        </a:rPr>
                        <a:t>A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  <a:tr h="2714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</a:rPr>
                        <a:t>14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2183A"/>
                          </a:solidFill>
                        </a:rPr>
                        <a:t>Colgate 200g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2183A"/>
                          </a:solidFill>
                        </a:rPr>
                        <a:t>8,78,990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2183A"/>
                          </a:solidFill>
                        </a:rPr>
                        <a:t>4,39,495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2183A"/>
                          </a:solidFill>
                        </a:rPr>
                        <a:t>50.0%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22C55E"/>
                          </a:solidFill>
                        </a:rPr>
                        <a:t>A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14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</a:rPr>
                        <a:t>15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2183A"/>
                          </a:solidFill>
                        </a:rPr>
                        <a:t>Real Mango Juice 1L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2183A"/>
                          </a:solidFill>
                        </a:rPr>
                        <a:t>8,23,445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2183A"/>
                          </a:solidFill>
                        </a:rPr>
                        <a:t>4,11,720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2183A"/>
                          </a:solidFill>
                        </a:rPr>
                        <a:t>50.0%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22C55E"/>
                          </a:solidFill>
                        </a:rPr>
                        <a:t>A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2183A"/>
          </a:solidFill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PARETO CHART — REVENUE CONTRIBUTION BY ABC CLASS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74320" y="685800"/>
            <a:ext cx="2194560" cy="256032"/>
          </a:xfrm>
          <a:prstGeom prst="rect">
            <a:avLst/>
          </a:prstGeom>
          <a:solidFill>
            <a:srgbClr val="F5A623"/>
          </a:solidFill>
        </p:spPr>
      </p:sp>
      <p:sp>
        <p:nvSpPr>
          <p:cNvPr id="5" name="Text 3"/>
          <p:cNvSpPr/>
          <p:nvPr/>
        </p:nvSpPr>
        <p:spPr>
          <a:xfrm>
            <a:off x="274320" y="685800"/>
            <a:ext cx="21945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12183A"/>
                </a:solidFill>
              </a:rPr>
              <a:t>TASK 4 — PARETO ANALYSIS</a:t>
            </a:r>
            <a:endParaRPr lang="en-US" sz="8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228600" y="1005840"/>
          <a:ext cx="594360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6446520" y="1005840"/>
            <a:ext cx="2468880" cy="3931920"/>
          </a:xfrm>
          <a:prstGeom prst="rect">
            <a:avLst/>
          </a:prstGeom>
          <a:solidFill>
            <a:srgbClr val="F4F6FC"/>
          </a:solidFill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537960" y="1078992"/>
            <a:ext cx="2286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12183A"/>
                </a:solidFill>
              </a:rPr>
              <a:t>PARETO RULE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537960" y="1389888"/>
            <a:ext cx="2286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2C55E"/>
                </a:solidFill>
              </a:rPr>
              <a:t>80/20 Validated ✓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537960" y="1783080"/>
            <a:ext cx="22860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E2B54"/>
                </a:solidFill>
              </a:rPr>
              <a:t>🟢 27 products (A class)</a:t>
            </a:r>
            <a:endParaRPr lang="en-US" sz="9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E2B54"/>
                </a:solidFill>
              </a:rPr>
              <a:t>drive 70% of revenue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6537960" y="2514600"/>
            <a:ext cx="22860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E2B54"/>
                </a:solidFill>
              </a:rPr>
              <a:t>🟡 18 products (B class)</a:t>
            </a:r>
            <a:endParaRPr lang="en-US" sz="9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E2B54"/>
                </a:solidFill>
              </a:rPr>
              <a:t>contribute 20% revenue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6537960" y="3246120"/>
            <a:ext cx="22860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E2B54"/>
                </a:solidFill>
              </a:rPr>
              <a:t>🔴 20 products (C class)</a:t>
            </a:r>
            <a:endParaRPr lang="en-US" sz="9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E2B54"/>
                </a:solidFill>
              </a:rPr>
              <a:t>only add 10% revenue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6537960" y="3977640"/>
            <a:ext cx="22860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E2B54"/>
                </a:solidFill>
              </a:rPr>
              <a:t>💡 Top 3 products alone</a:t>
            </a:r>
            <a:endParaRPr lang="en-US" sz="9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E2B54"/>
                </a:solidFill>
              </a:rPr>
              <a:t>contribute 14% revenue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2183A"/>
          </a:solidFill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TOP 10 vs BOTTOM 10 — PRODUCTS BY PROFIT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74320" y="685800"/>
            <a:ext cx="2194560" cy="256032"/>
          </a:xfrm>
          <a:prstGeom prst="rect">
            <a:avLst/>
          </a:prstGeom>
          <a:solidFill>
            <a:srgbClr val="F5A623"/>
          </a:solidFill>
        </p:spPr>
      </p:sp>
      <p:sp>
        <p:nvSpPr>
          <p:cNvPr id="5" name="Text 3"/>
          <p:cNvSpPr/>
          <p:nvPr/>
        </p:nvSpPr>
        <p:spPr>
          <a:xfrm>
            <a:off x="274320" y="685800"/>
            <a:ext cx="21945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12183A"/>
                </a:solidFill>
              </a:rPr>
              <a:t>TASK 8 — PROFIT ANALYSIS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182880" y="960120"/>
            <a:ext cx="4160520" cy="347472"/>
          </a:xfrm>
          <a:prstGeom prst="rect">
            <a:avLst/>
          </a:prstGeom>
          <a:solidFill>
            <a:srgbClr val="22C55E"/>
          </a:solidFill>
        </p:spPr>
      </p:sp>
      <p:sp>
        <p:nvSpPr>
          <p:cNvPr id="7" name="Text 5"/>
          <p:cNvSpPr/>
          <p:nvPr/>
        </p:nvSpPr>
        <p:spPr>
          <a:xfrm>
            <a:off x="182880" y="960120"/>
            <a:ext cx="416052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🏆  TOP 10 PRODUCTS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82880" y="1389888"/>
            <a:ext cx="4160520" cy="329184"/>
          </a:xfrm>
          <a:prstGeom prst="rect">
            <a:avLst/>
          </a:prstGeom>
          <a:solidFill>
            <a:srgbClr val="F0FDF4"/>
          </a:solidFill>
        </p:spPr>
      </p:sp>
      <p:sp>
        <p:nvSpPr>
          <p:cNvPr id="9" name="Text 7"/>
          <p:cNvSpPr/>
          <p:nvPr/>
        </p:nvSpPr>
        <p:spPr>
          <a:xfrm>
            <a:off x="228600" y="1435608"/>
            <a:ext cx="256032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2C55E"/>
                </a:solidFill>
              </a:rPr>
              <a:t>1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02920" y="1435608"/>
            <a:ext cx="256032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2183A"/>
                </a:solidFill>
              </a:rPr>
              <a:t>Pampers Small 52-Pack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108960" y="1435608"/>
            <a:ext cx="64008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2C55E"/>
                </a:solidFill>
              </a:rPr>
              <a:t>₹9.45L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749040" y="1435608"/>
            <a:ext cx="54864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D9488"/>
                </a:solidFill>
              </a:rPr>
              <a:t>49.4%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82880" y="1746504"/>
            <a:ext cx="4160520" cy="329184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4" name="Text 12"/>
          <p:cNvSpPr/>
          <p:nvPr/>
        </p:nvSpPr>
        <p:spPr>
          <a:xfrm>
            <a:off x="228600" y="1792224"/>
            <a:ext cx="256032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2C55E"/>
                </a:solidFill>
              </a:rPr>
              <a:t>2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502920" y="1792224"/>
            <a:ext cx="256032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2183A"/>
                </a:solidFill>
              </a:rPr>
              <a:t>Huggies Medium 44-Pack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108960" y="1792224"/>
            <a:ext cx="64008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2C55E"/>
                </a:solidFill>
              </a:rPr>
              <a:t>₹8.88L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749040" y="1792224"/>
            <a:ext cx="54864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D9488"/>
                </a:solidFill>
              </a:rPr>
              <a:t>49.8%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182880" y="2103120"/>
            <a:ext cx="4160520" cy="329184"/>
          </a:xfrm>
          <a:prstGeom prst="rect">
            <a:avLst/>
          </a:prstGeom>
          <a:solidFill>
            <a:srgbClr val="F0FDF4"/>
          </a:solidFill>
        </p:spPr>
      </p:sp>
      <p:sp>
        <p:nvSpPr>
          <p:cNvPr id="19" name="Text 17"/>
          <p:cNvSpPr/>
          <p:nvPr/>
        </p:nvSpPr>
        <p:spPr>
          <a:xfrm>
            <a:off x="228600" y="2148840"/>
            <a:ext cx="256032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2C55E"/>
                </a:solidFill>
              </a:rPr>
              <a:t>3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502920" y="2148840"/>
            <a:ext cx="256032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2183A"/>
                </a:solidFill>
              </a:rPr>
              <a:t>Wheat Flour 10kg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3108960" y="2148840"/>
            <a:ext cx="64008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2C55E"/>
                </a:solidFill>
              </a:rPr>
              <a:t>₹8.03L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749040" y="2148840"/>
            <a:ext cx="54864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D9488"/>
                </a:solidFill>
              </a:rPr>
              <a:t>49.5%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182880" y="2459736"/>
            <a:ext cx="4160520" cy="329184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4" name="Text 22"/>
          <p:cNvSpPr/>
          <p:nvPr/>
        </p:nvSpPr>
        <p:spPr>
          <a:xfrm>
            <a:off x="228600" y="2505456"/>
            <a:ext cx="256032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2C55E"/>
                </a:solidFill>
              </a:rPr>
              <a:t>4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502920" y="2505456"/>
            <a:ext cx="256032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2183A"/>
                </a:solidFill>
              </a:rPr>
              <a:t>Ariel Powder 2kg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3108960" y="2505456"/>
            <a:ext cx="64008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2C55E"/>
                </a:solidFill>
              </a:rPr>
              <a:t>₹6.16L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3749040" y="2505456"/>
            <a:ext cx="54864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D9488"/>
                </a:solidFill>
              </a:rPr>
              <a:t>49.6%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182880" y="2816352"/>
            <a:ext cx="4160520" cy="329184"/>
          </a:xfrm>
          <a:prstGeom prst="rect">
            <a:avLst/>
          </a:prstGeom>
          <a:solidFill>
            <a:srgbClr val="F0FDF4"/>
          </a:solidFill>
        </p:spPr>
      </p:sp>
      <p:sp>
        <p:nvSpPr>
          <p:cNvPr id="29" name="Text 27"/>
          <p:cNvSpPr/>
          <p:nvPr/>
        </p:nvSpPr>
        <p:spPr>
          <a:xfrm>
            <a:off x="228600" y="2862072"/>
            <a:ext cx="256032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2C55E"/>
                </a:solidFill>
              </a:rPr>
              <a:t>5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502920" y="2862072"/>
            <a:ext cx="256032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2183A"/>
                </a:solidFill>
              </a:rPr>
              <a:t>Basmati Rice 5kg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3108960" y="2862072"/>
            <a:ext cx="64008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2C55E"/>
                </a:solidFill>
              </a:rPr>
              <a:t>₹6.07L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3749040" y="2862072"/>
            <a:ext cx="54864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D9488"/>
                </a:solidFill>
              </a:rPr>
              <a:t>55.7%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182880" y="3172968"/>
            <a:ext cx="4160520" cy="329184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4" name="Text 32"/>
          <p:cNvSpPr/>
          <p:nvPr/>
        </p:nvSpPr>
        <p:spPr>
          <a:xfrm>
            <a:off x="228600" y="3218688"/>
            <a:ext cx="256032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2C55E"/>
                </a:solidFill>
              </a:rPr>
              <a:t>6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502920" y="3218688"/>
            <a:ext cx="256032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2183A"/>
                </a:solidFill>
              </a:rPr>
              <a:t>Horlicks 500g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3108960" y="3218688"/>
            <a:ext cx="64008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2C55E"/>
                </a:solidFill>
              </a:rPr>
              <a:t>₹5.85L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3749040" y="3218688"/>
            <a:ext cx="54864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D9488"/>
                </a:solidFill>
              </a:rPr>
              <a:t>49.0%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182880" y="3529584"/>
            <a:ext cx="4160520" cy="329184"/>
          </a:xfrm>
          <a:prstGeom prst="rect">
            <a:avLst/>
          </a:prstGeom>
          <a:solidFill>
            <a:srgbClr val="F0FDF4"/>
          </a:solidFill>
        </p:spPr>
      </p:sp>
      <p:sp>
        <p:nvSpPr>
          <p:cNvPr id="39" name="Text 37"/>
          <p:cNvSpPr/>
          <p:nvPr/>
        </p:nvSpPr>
        <p:spPr>
          <a:xfrm>
            <a:off x="228600" y="3575304"/>
            <a:ext cx="256032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2C55E"/>
                </a:solidFill>
              </a:rPr>
              <a:t>7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502920" y="3575304"/>
            <a:ext cx="256032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2183A"/>
                </a:solidFill>
              </a:rPr>
              <a:t>Sona Masoori 5kg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3108960" y="3575304"/>
            <a:ext cx="64008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2C55E"/>
                </a:solidFill>
              </a:rPr>
              <a:t>₹5.64L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3749040" y="3575304"/>
            <a:ext cx="54864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D9488"/>
                </a:solidFill>
              </a:rPr>
              <a:t>55.4%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182880" y="3886200"/>
            <a:ext cx="4160520" cy="329184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44" name="Text 42"/>
          <p:cNvSpPr/>
          <p:nvPr/>
        </p:nvSpPr>
        <p:spPr>
          <a:xfrm>
            <a:off x="228600" y="3931920"/>
            <a:ext cx="256032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2C55E"/>
                </a:solidFill>
              </a:rPr>
              <a:t>8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502920" y="3931920"/>
            <a:ext cx="256032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2183A"/>
                </a:solidFill>
              </a:rPr>
              <a:t>Surf Excel 2kg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3108960" y="3931920"/>
            <a:ext cx="64008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2C55E"/>
                </a:solidFill>
              </a:rPr>
              <a:t>₹5.54L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3749040" y="3931920"/>
            <a:ext cx="54864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D9488"/>
                </a:solidFill>
              </a:rPr>
              <a:t>49.8%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182880" y="4242816"/>
            <a:ext cx="4160520" cy="329184"/>
          </a:xfrm>
          <a:prstGeom prst="rect">
            <a:avLst/>
          </a:prstGeom>
          <a:solidFill>
            <a:srgbClr val="F0FDF4"/>
          </a:solidFill>
        </p:spPr>
      </p:sp>
      <p:sp>
        <p:nvSpPr>
          <p:cNvPr id="49" name="Text 47"/>
          <p:cNvSpPr/>
          <p:nvPr/>
        </p:nvSpPr>
        <p:spPr>
          <a:xfrm>
            <a:off x="228600" y="4288536"/>
            <a:ext cx="256032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2C55E"/>
                </a:solidFill>
              </a:rPr>
              <a:t>9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502920" y="4288536"/>
            <a:ext cx="256032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2183A"/>
                </a:solidFill>
              </a:rPr>
              <a:t>Bru Coffee 200g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3108960" y="4288536"/>
            <a:ext cx="64008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2C55E"/>
                </a:solidFill>
              </a:rPr>
              <a:t>₹5.20L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3749040" y="4288536"/>
            <a:ext cx="54864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D9488"/>
                </a:solidFill>
              </a:rPr>
              <a:t>50.9%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82880" y="4599432"/>
            <a:ext cx="4160520" cy="329184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54" name="Text 52"/>
          <p:cNvSpPr/>
          <p:nvPr/>
        </p:nvSpPr>
        <p:spPr>
          <a:xfrm>
            <a:off x="228600" y="4645025"/>
            <a:ext cx="514350" cy="23749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2C55E"/>
                </a:solidFill>
              </a:rPr>
              <a:t>10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502920" y="4645152"/>
            <a:ext cx="256032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2183A"/>
                </a:solidFill>
              </a:rPr>
              <a:t>A4 Paper 500 Sheets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3108960" y="4645152"/>
            <a:ext cx="64008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2C55E"/>
                </a:solidFill>
              </a:rPr>
              <a:t>₹5.12L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3749040" y="4645152"/>
            <a:ext cx="54864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D9488"/>
                </a:solidFill>
              </a:rPr>
              <a:t>49.9%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4754880" y="960120"/>
            <a:ext cx="4160520" cy="347472"/>
          </a:xfrm>
          <a:prstGeom prst="rect">
            <a:avLst/>
          </a:prstGeom>
          <a:solidFill>
            <a:srgbClr val="EF4444"/>
          </a:solidFill>
        </p:spPr>
      </p:sp>
      <p:sp>
        <p:nvSpPr>
          <p:cNvPr id="59" name="Text 57"/>
          <p:cNvSpPr/>
          <p:nvPr/>
        </p:nvSpPr>
        <p:spPr>
          <a:xfrm>
            <a:off x="4754880" y="960120"/>
            <a:ext cx="416052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⚠️  BOTTOM 10 PRODUCTS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4754880" y="1389888"/>
            <a:ext cx="4160520" cy="329184"/>
          </a:xfrm>
          <a:prstGeom prst="rect">
            <a:avLst/>
          </a:prstGeom>
          <a:solidFill>
            <a:srgbClr val="FFF1F2"/>
          </a:solidFill>
        </p:spPr>
      </p:sp>
      <p:sp>
        <p:nvSpPr>
          <p:cNvPr id="61" name="Text 59"/>
          <p:cNvSpPr/>
          <p:nvPr/>
        </p:nvSpPr>
        <p:spPr>
          <a:xfrm>
            <a:off x="4800600" y="1435608"/>
            <a:ext cx="256032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F4444"/>
                </a:solidFill>
              </a:rPr>
              <a:t>1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5074920" y="1435608"/>
            <a:ext cx="256032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2183A"/>
                </a:solidFill>
              </a:rPr>
              <a:t>Kurkure Masala 90g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7680960" y="1435608"/>
            <a:ext cx="64008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EF4444"/>
                </a:solidFill>
              </a:rPr>
              <a:t>₹0.46L</a:t>
            </a: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8321040" y="1435608"/>
            <a:ext cx="54864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</a:rPr>
              <a:t>52.2%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4754880" y="1746504"/>
            <a:ext cx="4160520" cy="329184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66" name="Text 64"/>
          <p:cNvSpPr/>
          <p:nvPr/>
        </p:nvSpPr>
        <p:spPr>
          <a:xfrm>
            <a:off x="4800600" y="1792224"/>
            <a:ext cx="256032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F4444"/>
                </a:solidFill>
              </a:rPr>
              <a:t>2</a:t>
            </a:r>
            <a:endParaRPr lang="en-US" sz="850" dirty="0"/>
          </a:p>
        </p:txBody>
      </p:sp>
      <p:sp>
        <p:nvSpPr>
          <p:cNvPr id="67" name="Text 65"/>
          <p:cNvSpPr/>
          <p:nvPr/>
        </p:nvSpPr>
        <p:spPr>
          <a:xfrm>
            <a:off x="5074920" y="1792224"/>
            <a:ext cx="256032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2183A"/>
                </a:solidFill>
              </a:rPr>
              <a:t>Lays Classic 90g</a:t>
            </a:r>
            <a:endParaRPr lang="en-US" sz="850" dirty="0"/>
          </a:p>
        </p:txBody>
      </p:sp>
      <p:sp>
        <p:nvSpPr>
          <p:cNvPr id="68" name="Text 66"/>
          <p:cNvSpPr/>
          <p:nvPr/>
        </p:nvSpPr>
        <p:spPr>
          <a:xfrm>
            <a:off x="7680960" y="1792224"/>
            <a:ext cx="64008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EF4444"/>
                </a:solidFill>
              </a:rPr>
              <a:t>₹0.48L</a:t>
            </a:r>
            <a:endParaRPr lang="en-US" sz="850" dirty="0"/>
          </a:p>
        </p:txBody>
      </p:sp>
      <p:sp>
        <p:nvSpPr>
          <p:cNvPr id="69" name="Text 67"/>
          <p:cNvSpPr/>
          <p:nvPr/>
        </p:nvSpPr>
        <p:spPr>
          <a:xfrm>
            <a:off x="8321040" y="1792224"/>
            <a:ext cx="54864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</a:rPr>
              <a:t>44.4%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4754880" y="2103120"/>
            <a:ext cx="4160520" cy="329184"/>
          </a:xfrm>
          <a:prstGeom prst="rect">
            <a:avLst/>
          </a:prstGeom>
          <a:solidFill>
            <a:srgbClr val="FFF1F2"/>
          </a:solidFill>
        </p:spPr>
      </p:sp>
      <p:sp>
        <p:nvSpPr>
          <p:cNvPr id="71" name="Text 69"/>
          <p:cNvSpPr/>
          <p:nvPr/>
        </p:nvSpPr>
        <p:spPr>
          <a:xfrm>
            <a:off x="4800600" y="2148840"/>
            <a:ext cx="256032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F4444"/>
                </a:solidFill>
              </a:rPr>
              <a:t>3</a:t>
            </a:r>
            <a:endParaRPr lang="en-US" sz="850" dirty="0"/>
          </a:p>
        </p:txBody>
      </p:sp>
      <p:sp>
        <p:nvSpPr>
          <p:cNvPr id="72" name="Text 70"/>
          <p:cNvSpPr/>
          <p:nvPr/>
        </p:nvSpPr>
        <p:spPr>
          <a:xfrm>
            <a:off x="5074920" y="2148840"/>
            <a:ext cx="256032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2183A"/>
                </a:solidFill>
              </a:rPr>
              <a:t>KitKat 4-Finger 41g</a:t>
            </a:r>
            <a:endParaRPr lang="en-US" sz="850" dirty="0"/>
          </a:p>
        </p:txBody>
      </p:sp>
      <p:sp>
        <p:nvSpPr>
          <p:cNvPr id="73" name="Text 71"/>
          <p:cNvSpPr/>
          <p:nvPr/>
        </p:nvSpPr>
        <p:spPr>
          <a:xfrm>
            <a:off x="7680960" y="2148840"/>
            <a:ext cx="64008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EF4444"/>
                </a:solidFill>
              </a:rPr>
              <a:t>₹0.65L</a:t>
            </a:r>
            <a:endParaRPr lang="en-US" sz="850" dirty="0"/>
          </a:p>
        </p:txBody>
      </p:sp>
      <p:sp>
        <p:nvSpPr>
          <p:cNvPr id="74" name="Text 72"/>
          <p:cNvSpPr/>
          <p:nvPr/>
        </p:nvSpPr>
        <p:spPr>
          <a:xfrm>
            <a:off x="8321040" y="2148840"/>
            <a:ext cx="54864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</a:rPr>
              <a:t>51.0%</a:t>
            </a:r>
            <a:endParaRPr lang="en-US" sz="850" dirty="0"/>
          </a:p>
        </p:txBody>
      </p:sp>
      <p:sp>
        <p:nvSpPr>
          <p:cNvPr id="75" name="Shape 73"/>
          <p:cNvSpPr/>
          <p:nvPr/>
        </p:nvSpPr>
        <p:spPr>
          <a:xfrm>
            <a:off x="4754880" y="2459736"/>
            <a:ext cx="4160520" cy="329184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76" name="Text 74"/>
          <p:cNvSpPr/>
          <p:nvPr/>
        </p:nvSpPr>
        <p:spPr>
          <a:xfrm>
            <a:off x="4800600" y="2505456"/>
            <a:ext cx="256032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F4444"/>
                </a:solidFill>
              </a:rPr>
              <a:t>4</a:t>
            </a:r>
            <a:endParaRPr lang="en-US" sz="850" dirty="0"/>
          </a:p>
        </p:txBody>
      </p:sp>
      <p:sp>
        <p:nvSpPr>
          <p:cNvPr id="77" name="Text 75"/>
          <p:cNvSpPr/>
          <p:nvPr/>
        </p:nvSpPr>
        <p:spPr>
          <a:xfrm>
            <a:off x="5074920" y="2505456"/>
            <a:ext cx="256032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2183A"/>
                </a:solidFill>
              </a:rPr>
              <a:t>Oreo Chocolate 120g</a:t>
            </a:r>
            <a:endParaRPr lang="en-US" sz="850" dirty="0"/>
          </a:p>
        </p:txBody>
      </p:sp>
      <p:sp>
        <p:nvSpPr>
          <p:cNvPr id="78" name="Text 76"/>
          <p:cNvSpPr/>
          <p:nvPr/>
        </p:nvSpPr>
        <p:spPr>
          <a:xfrm>
            <a:off x="7680960" y="2505456"/>
            <a:ext cx="64008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EF4444"/>
                </a:solidFill>
              </a:rPr>
              <a:t>₹0.75L</a:t>
            </a:r>
            <a:endParaRPr lang="en-US" sz="850" dirty="0"/>
          </a:p>
        </p:txBody>
      </p:sp>
      <p:sp>
        <p:nvSpPr>
          <p:cNvPr id="79" name="Text 77"/>
          <p:cNvSpPr/>
          <p:nvPr/>
        </p:nvSpPr>
        <p:spPr>
          <a:xfrm>
            <a:off x="8321040" y="2505456"/>
            <a:ext cx="54864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</a:rPr>
              <a:t>49.5%</a:t>
            </a:r>
            <a:endParaRPr lang="en-US" sz="850" dirty="0"/>
          </a:p>
        </p:txBody>
      </p:sp>
      <p:sp>
        <p:nvSpPr>
          <p:cNvPr id="80" name="Shape 78"/>
          <p:cNvSpPr/>
          <p:nvPr/>
        </p:nvSpPr>
        <p:spPr>
          <a:xfrm>
            <a:off x="4754880" y="2816352"/>
            <a:ext cx="4160520" cy="329184"/>
          </a:xfrm>
          <a:prstGeom prst="rect">
            <a:avLst/>
          </a:prstGeom>
          <a:solidFill>
            <a:srgbClr val="FFF1F2"/>
          </a:solidFill>
        </p:spPr>
      </p:sp>
      <p:sp>
        <p:nvSpPr>
          <p:cNvPr id="81" name="Text 79"/>
          <p:cNvSpPr/>
          <p:nvPr/>
        </p:nvSpPr>
        <p:spPr>
          <a:xfrm>
            <a:off x="4800600" y="2862072"/>
            <a:ext cx="256032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F4444"/>
                </a:solidFill>
              </a:rPr>
              <a:t>5</a:t>
            </a:r>
            <a:endParaRPr lang="en-US" sz="850" dirty="0"/>
          </a:p>
        </p:txBody>
      </p:sp>
      <p:sp>
        <p:nvSpPr>
          <p:cNvPr id="82" name="Text 80"/>
          <p:cNvSpPr/>
          <p:nvPr/>
        </p:nvSpPr>
        <p:spPr>
          <a:xfrm>
            <a:off x="5074920" y="2862072"/>
            <a:ext cx="256032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2183A"/>
                </a:solidFill>
              </a:rPr>
              <a:t>Poha 500g</a:t>
            </a:r>
            <a:endParaRPr lang="en-US" sz="850" dirty="0"/>
          </a:p>
        </p:txBody>
      </p:sp>
      <p:sp>
        <p:nvSpPr>
          <p:cNvPr id="83" name="Text 81"/>
          <p:cNvSpPr/>
          <p:nvPr/>
        </p:nvSpPr>
        <p:spPr>
          <a:xfrm>
            <a:off x="7680960" y="2862072"/>
            <a:ext cx="64008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EF4444"/>
                </a:solidFill>
              </a:rPr>
              <a:t>₹0.79L</a:t>
            </a:r>
            <a:endParaRPr lang="en-US" sz="850" dirty="0"/>
          </a:p>
        </p:txBody>
      </p:sp>
      <p:sp>
        <p:nvSpPr>
          <p:cNvPr id="84" name="Text 82"/>
          <p:cNvSpPr/>
          <p:nvPr/>
        </p:nvSpPr>
        <p:spPr>
          <a:xfrm>
            <a:off x="8321040" y="2862072"/>
            <a:ext cx="54864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</a:rPr>
              <a:t>55.5%</a:t>
            </a:r>
            <a:endParaRPr lang="en-US" sz="850" dirty="0"/>
          </a:p>
        </p:txBody>
      </p:sp>
      <p:sp>
        <p:nvSpPr>
          <p:cNvPr id="85" name="Shape 83"/>
          <p:cNvSpPr/>
          <p:nvPr/>
        </p:nvSpPr>
        <p:spPr>
          <a:xfrm>
            <a:off x="4754880" y="3172968"/>
            <a:ext cx="4160520" cy="329184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86" name="Text 84"/>
          <p:cNvSpPr/>
          <p:nvPr/>
        </p:nvSpPr>
        <p:spPr>
          <a:xfrm>
            <a:off x="4800600" y="3218688"/>
            <a:ext cx="256032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F4444"/>
                </a:solidFill>
              </a:rPr>
              <a:t>6</a:t>
            </a:r>
            <a:endParaRPr lang="en-US" sz="850" dirty="0"/>
          </a:p>
        </p:txBody>
      </p:sp>
      <p:sp>
        <p:nvSpPr>
          <p:cNvPr id="87" name="Text 85"/>
          <p:cNvSpPr/>
          <p:nvPr/>
        </p:nvSpPr>
        <p:spPr>
          <a:xfrm>
            <a:off x="5074920" y="3218688"/>
            <a:ext cx="256032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2183A"/>
                </a:solidFill>
              </a:rPr>
              <a:t>Classmate Notebook</a:t>
            </a:r>
            <a:endParaRPr lang="en-US" sz="850" dirty="0"/>
          </a:p>
        </p:txBody>
      </p:sp>
      <p:sp>
        <p:nvSpPr>
          <p:cNvPr id="88" name="Text 86"/>
          <p:cNvSpPr/>
          <p:nvPr/>
        </p:nvSpPr>
        <p:spPr>
          <a:xfrm>
            <a:off x="7680960" y="3218688"/>
            <a:ext cx="64008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EF4444"/>
                </a:solidFill>
              </a:rPr>
              <a:t>₹0.84L</a:t>
            </a:r>
            <a:endParaRPr lang="en-US" sz="850" dirty="0"/>
          </a:p>
        </p:txBody>
      </p:sp>
      <p:sp>
        <p:nvSpPr>
          <p:cNvPr id="89" name="Text 87"/>
          <p:cNvSpPr/>
          <p:nvPr/>
        </p:nvSpPr>
        <p:spPr>
          <a:xfrm>
            <a:off x="8321040" y="3218688"/>
            <a:ext cx="54864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</a:rPr>
              <a:t>50.1%</a:t>
            </a:r>
            <a:endParaRPr lang="en-US" sz="850" dirty="0"/>
          </a:p>
        </p:txBody>
      </p:sp>
      <p:sp>
        <p:nvSpPr>
          <p:cNvPr id="90" name="Shape 88"/>
          <p:cNvSpPr/>
          <p:nvPr/>
        </p:nvSpPr>
        <p:spPr>
          <a:xfrm>
            <a:off x="4754880" y="3529584"/>
            <a:ext cx="4160520" cy="329184"/>
          </a:xfrm>
          <a:prstGeom prst="rect">
            <a:avLst/>
          </a:prstGeom>
          <a:solidFill>
            <a:srgbClr val="FFF1F2"/>
          </a:solidFill>
        </p:spPr>
      </p:sp>
      <p:sp>
        <p:nvSpPr>
          <p:cNvPr id="91" name="Text 89"/>
          <p:cNvSpPr/>
          <p:nvPr/>
        </p:nvSpPr>
        <p:spPr>
          <a:xfrm>
            <a:off x="4800600" y="3575304"/>
            <a:ext cx="256032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F4444"/>
                </a:solidFill>
              </a:rPr>
              <a:t>7</a:t>
            </a:r>
            <a:endParaRPr lang="en-US" sz="850" dirty="0"/>
          </a:p>
        </p:txBody>
      </p:sp>
      <p:sp>
        <p:nvSpPr>
          <p:cNvPr id="92" name="Text 90"/>
          <p:cNvSpPr/>
          <p:nvPr/>
        </p:nvSpPr>
        <p:spPr>
          <a:xfrm>
            <a:off x="5074920" y="3575304"/>
            <a:ext cx="256032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2183A"/>
                </a:solidFill>
              </a:rPr>
              <a:t>Turmeric Powder 100g</a:t>
            </a:r>
            <a:endParaRPr lang="en-US" sz="850" dirty="0"/>
          </a:p>
        </p:txBody>
      </p:sp>
      <p:sp>
        <p:nvSpPr>
          <p:cNvPr id="93" name="Text 91"/>
          <p:cNvSpPr/>
          <p:nvPr/>
        </p:nvSpPr>
        <p:spPr>
          <a:xfrm>
            <a:off x="7680960" y="3575304"/>
            <a:ext cx="64008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EF4444"/>
                </a:solidFill>
              </a:rPr>
              <a:t>₹0.93L</a:t>
            </a:r>
            <a:endParaRPr lang="en-US" sz="850" dirty="0"/>
          </a:p>
        </p:txBody>
      </p:sp>
      <p:sp>
        <p:nvSpPr>
          <p:cNvPr id="94" name="Text 92"/>
          <p:cNvSpPr/>
          <p:nvPr/>
        </p:nvSpPr>
        <p:spPr>
          <a:xfrm>
            <a:off x="8321040" y="3575304"/>
            <a:ext cx="54864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</a:rPr>
              <a:t>54.1%</a:t>
            </a:r>
            <a:endParaRPr lang="en-US" sz="850" dirty="0"/>
          </a:p>
        </p:txBody>
      </p:sp>
      <p:sp>
        <p:nvSpPr>
          <p:cNvPr id="95" name="Shape 93"/>
          <p:cNvSpPr/>
          <p:nvPr/>
        </p:nvSpPr>
        <p:spPr>
          <a:xfrm>
            <a:off x="4754880" y="3886200"/>
            <a:ext cx="4160520" cy="329184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96" name="Text 94"/>
          <p:cNvSpPr/>
          <p:nvPr/>
        </p:nvSpPr>
        <p:spPr>
          <a:xfrm>
            <a:off x="4800600" y="3931920"/>
            <a:ext cx="256032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F4444"/>
                </a:solidFill>
              </a:rPr>
              <a:t>8</a:t>
            </a:r>
            <a:endParaRPr lang="en-US" sz="850" dirty="0"/>
          </a:p>
        </p:txBody>
      </p:sp>
      <p:sp>
        <p:nvSpPr>
          <p:cNvPr id="97" name="Text 95"/>
          <p:cNvSpPr/>
          <p:nvPr/>
        </p:nvSpPr>
        <p:spPr>
          <a:xfrm>
            <a:off x="5074920" y="3931920"/>
            <a:ext cx="256032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2183A"/>
                </a:solidFill>
              </a:rPr>
              <a:t>Sprite 1L</a:t>
            </a:r>
            <a:endParaRPr lang="en-US" sz="850" dirty="0"/>
          </a:p>
        </p:txBody>
      </p:sp>
      <p:sp>
        <p:nvSpPr>
          <p:cNvPr id="98" name="Text 96"/>
          <p:cNvSpPr/>
          <p:nvPr/>
        </p:nvSpPr>
        <p:spPr>
          <a:xfrm>
            <a:off x="7680960" y="3931920"/>
            <a:ext cx="64008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EF4444"/>
                </a:solidFill>
              </a:rPr>
              <a:t>₹0.96L</a:t>
            </a:r>
            <a:endParaRPr lang="en-US" sz="850" dirty="0"/>
          </a:p>
        </p:txBody>
      </p:sp>
      <p:sp>
        <p:nvSpPr>
          <p:cNvPr id="99" name="Text 97"/>
          <p:cNvSpPr/>
          <p:nvPr/>
        </p:nvSpPr>
        <p:spPr>
          <a:xfrm>
            <a:off x="8321040" y="3931920"/>
            <a:ext cx="54864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</a:rPr>
              <a:t>47.3%</a:t>
            </a:r>
            <a:endParaRPr lang="en-US" sz="850" dirty="0"/>
          </a:p>
        </p:txBody>
      </p:sp>
      <p:sp>
        <p:nvSpPr>
          <p:cNvPr id="100" name="Shape 98"/>
          <p:cNvSpPr/>
          <p:nvPr/>
        </p:nvSpPr>
        <p:spPr>
          <a:xfrm>
            <a:off x="4754880" y="4242816"/>
            <a:ext cx="4160520" cy="329184"/>
          </a:xfrm>
          <a:prstGeom prst="rect">
            <a:avLst/>
          </a:prstGeom>
          <a:solidFill>
            <a:srgbClr val="FFF1F2"/>
          </a:solidFill>
        </p:spPr>
      </p:sp>
      <p:sp>
        <p:nvSpPr>
          <p:cNvPr id="101" name="Text 99"/>
          <p:cNvSpPr/>
          <p:nvPr/>
        </p:nvSpPr>
        <p:spPr>
          <a:xfrm>
            <a:off x="4800600" y="4288536"/>
            <a:ext cx="256032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F4444"/>
                </a:solidFill>
              </a:rPr>
              <a:t>9</a:t>
            </a:r>
            <a:endParaRPr lang="en-US" sz="850" dirty="0"/>
          </a:p>
        </p:txBody>
      </p:sp>
      <p:sp>
        <p:nvSpPr>
          <p:cNvPr id="102" name="Text 100"/>
          <p:cNvSpPr/>
          <p:nvPr/>
        </p:nvSpPr>
        <p:spPr>
          <a:xfrm>
            <a:off x="5074920" y="4288536"/>
            <a:ext cx="256032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2183A"/>
                </a:solidFill>
              </a:rPr>
              <a:t>Parle-G 800g</a:t>
            </a:r>
            <a:endParaRPr lang="en-US" sz="850" dirty="0"/>
          </a:p>
        </p:txBody>
      </p:sp>
      <p:sp>
        <p:nvSpPr>
          <p:cNvPr id="103" name="Text 101"/>
          <p:cNvSpPr/>
          <p:nvPr/>
        </p:nvSpPr>
        <p:spPr>
          <a:xfrm>
            <a:off x="7680960" y="4288536"/>
            <a:ext cx="64008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EF4444"/>
                </a:solidFill>
              </a:rPr>
              <a:t>₹1.05L</a:t>
            </a:r>
            <a:endParaRPr lang="en-US" sz="850" dirty="0"/>
          </a:p>
        </p:txBody>
      </p:sp>
      <p:sp>
        <p:nvSpPr>
          <p:cNvPr id="104" name="Text 102"/>
          <p:cNvSpPr/>
          <p:nvPr/>
        </p:nvSpPr>
        <p:spPr>
          <a:xfrm>
            <a:off x="8321040" y="4288536"/>
            <a:ext cx="54864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</a:rPr>
              <a:t>50.1%</a:t>
            </a:r>
            <a:endParaRPr lang="en-US" sz="850" dirty="0"/>
          </a:p>
        </p:txBody>
      </p:sp>
      <p:sp>
        <p:nvSpPr>
          <p:cNvPr id="105" name="Shape 103"/>
          <p:cNvSpPr/>
          <p:nvPr/>
        </p:nvSpPr>
        <p:spPr>
          <a:xfrm>
            <a:off x="4754880" y="4599432"/>
            <a:ext cx="4160520" cy="329184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06" name="Text 104"/>
          <p:cNvSpPr/>
          <p:nvPr/>
        </p:nvSpPr>
        <p:spPr>
          <a:xfrm>
            <a:off x="4800600" y="4645025"/>
            <a:ext cx="431165" cy="23749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F4444"/>
                </a:solidFill>
              </a:rPr>
              <a:t>10</a:t>
            </a:r>
            <a:endParaRPr lang="en-US" sz="850" dirty="0"/>
          </a:p>
        </p:txBody>
      </p:sp>
      <p:sp>
        <p:nvSpPr>
          <p:cNvPr id="107" name="Text 105"/>
          <p:cNvSpPr/>
          <p:nvPr/>
        </p:nvSpPr>
        <p:spPr>
          <a:xfrm>
            <a:off x="5074920" y="4645152"/>
            <a:ext cx="256032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2183A"/>
                </a:solidFill>
              </a:rPr>
              <a:t>Reynolds Pen Pack 10</a:t>
            </a:r>
            <a:endParaRPr lang="en-US" sz="850" dirty="0"/>
          </a:p>
        </p:txBody>
      </p:sp>
      <p:sp>
        <p:nvSpPr>
          <p:cNvPr id="108" name="Text 106"/>
          <p:cNvSpPr/>
          <p:nvPr/>
        </p:nvSpPr>
        <p:spPr>
          <a:xfrm>
            <a:off x="7680960" y="4645152"/>
            <a:ext cx="64008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EF4444"/>
                </a:solidFill>
              </a:rPr>
              <a:t>₹1.10L</a:t>
            </a:r>
            <a:endParaRPr lang="en-US" sz="850" dirty="0"/>
          </a:p>
        </p:txBody>
      </p:sp>
      <p:sp>
        <p:nvSpPr>
          <p:cNvPr id="109" name="Text 107"/>
          <p:cNvSpPr/>
          <p:nvPr/>
        </p:nvSpPr>
        <p:spPr>
          <a:xfrm>
            <a:off x="8321040" y="4645152"/>
            <a:ext cx="54864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</a:rPr>
              <a:t>50.5%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2183A"/>
          </a:solidFill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CATEGORY REVENUE &amp; PROFIT BREAKDOWN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74320" y="685800"/>
            <a:ext cx="2194560" cy="256032"/>
          </a:xfrm>
          <a:prstGeom prst="rect">
            <a:avLst/>
          </a:prstGeom>
          <a:solidFill>
            <a:srgbClr val="F5A623"/>
          </a:solidFill>
        </p:spPr>
      </p:sp>
      <p:sp>
        <p:nvSpPr>
          <p:cNvPr id="5" name="Text 3"/>
          <p:cNvSpPr/>
          <p:nvPr/>
        </p:nvSpPr>
        <p:spPr>
          <a:xfrm>
            <a:off x="274320" y="685800"/>
            <a:ext cx="21945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12183A"/>
                </a:solidFill>
              </a:rPr>
              <a:t>CATEGORY ANALYSIS</a:t>
            </a:r>
            <a:endParaRPr lang="en-US" sz="8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228600" y="1005840"/>
          <a:ext cx="868680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2183A"/>
          </a:solidFill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SUB-CATEGORY AVG MARGIN % — TOP vs BOTTOM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74320" y="685800"/>
            <a:ext cx="2194560" cy="256032"/>
          </a:xfrm>
          <a:prstGeom prst="rect">
            <a:avLst/>
          </a:prstGeom>
          <a:solidFill>
            <a:srgbClr val="F5A623"/>
          </a:solidFill>
        </p:spPr>
      </p:sp>
      <p:sp>
        <p:nvSpPr>
          <p:cNvPr id="5" name="Text 3"/>
          <p:cNvSpPr/>
          <p:nvPr/>
        </p:nvSpPr>
        <p:spPr>
          <a:xfrm>
            <a:off x="274320" y="685800"/>
            <a:ext cx="21945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12183A"/>
                </a:solidFill>
              </a:rPr>
              <a:t>TASK 5 — SUB-CATEGORY MARGINS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182880" y="987552"/>
            <a:ext cx="4206240" cy="347472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7" name="Text 5"/>
          <p:cNvSpPr/>
          <p:nvPr/>
        </p:nvSpPr>
        <p:spPr>
          <a:xfrm>
            <a:off x="182880" y="987552"/>
            <a:ext cx="420624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🏆  TOP 5 SUB-CATEGORIES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82880" y="1417320"/>
            <a:ext cx="4206240" cy="530352"/>
          </a:xfrm>
          <a:prstGeom prst="rect">
            <a:avLst/>
          </a:prstGeom>
          <a:solidFill>
            <a:srgbClr val="F0FDF4"/>
          </a:solidFill>
        </p:spPr>
      </p:sp>
      <p:sp>
        <p:nvSpPr>
          <p:cNvPr id="9" name="Text 7"/>
          <p:cNvSpPr/>
          <p:nvPr/>
        </p:nvSpPr>
        <p:spPr>
          <a:xfrm>
            <a:off x="320040" y="1527048"/>
            <a:ext cx="2286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2183A"/>
                </a:solidFill>
              </a:rPr>
              <a:t>Rice &amp; Grains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697480" y="1545336"/>
            <a:ext cx="640080" cy="228600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11" name="Text 9"/>
          <p:cNvSpPr/>
          <p:nvPr/>
        </p:nvSpPr>
        <p:spPr>
          <a:xfrm>
            <a:off x="3291840" y="1527048"/>
            <a:ext cx="6400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</a:rPr>
              <a:t>54%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977640" y="1545336"/>
            <a:ext cx="347472" cy="228600"/>
          </a:xfrm>
          <a:prstGeom prst="rect">
            <a:avLst/>
          </a:prstGeom>
          <a:solidFill>
            <a:srgbClr val="22C55E"/>
          </a:solidFill>
        </p:spPr>
      </p:sp>
      <p:sp>
        <p:nvSpPr>
          <p:cNvPr id="13" name="Text 11"/>
          <p:cNvSpPr/>
          <p:nvPr/>
        </p:nvSpPr>
        <p:spPr>
          <a:xfrm>
            <a:off x="3977640" y="1545336"/>
            <a:ext cx="347472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</a:rPr>
              <a:t>EXPAND</a:t>
            </a:r>
            <a:endParaRPr lang="en-US" sz="650" dirty="0"/>
          </a:p>
        </p:txBody>
      </p:sp>
      <p:sp>
        <p:nvSpPr>
          <p:cNvPr id="14" name="Shape 12"/>
          <p:cNvSpPr/>
          <p:nvPr/>
        </p:nvSpPr>
        <p:spPr>
          <a:xfrm>
            <a:off x="182880" y="2011680"/>
            <a:ext cx="4206240" cy="530352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5" name="Text 13"/>
          <p:cNvSpPr/>
          <p:nvPr/>
        </p:nvSpPr>
        <p:spPr>
          <a:xfrm>
            <a:off x="320040" y="2121408"/>
            <a:ext cx="2286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2183A"/>
                </a:solidFill>
              </a:rPr>
              <a:t>Spices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697480" y="2139696"/>
            <a:ext cx="635508" cy="228600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17" name="Text 15"/>
          <p:cNvSpPr/>
          <p:nvPr/>
        </p:nvSpPr>
        <p:spPr>
          <a:xfrm>
            <a:off x="3291840" y="2121408"/>
            <a:ext cx="6400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</a:rPr>
              <a:t>53.9%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977640" y="2139696"/>
            <a:ext cx="347472" cy="228600"/>
          </a:xfrm>
          <a:prstGeom prst="rect">
            <a:avLst/>
          </a:prstGeom>
          <a:solidFill>
            <a:srgbClr val="22C55E"/>
          </a:solidFill>
        </p:spPr>
      </p:sp>
      <p:sp>
        <p:nvSpPr>
          <p:cNvPr id="19" name="Text 17"/>
          <p:cNvSpPr/>
          <p:nvPr/>
        </p:nvSpPr>
        <p:spPr>
          <a:xfrm>
            <a:off x="3977640" y="2139696"/>
            <a:ext cx="347472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</a:rPr>
              <a:t>EXPAND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182880" y="2606040"/>
            <a:ext cx="4206240" cy="530352"/>
          </a:xfrm>
          <a:prstGeom prst="rect">
            <a:avLst/>
          </a:prstGeom>
          <a:solidFill>
            <a:srgbClr val="F0FDF4"/>
          </a:solidFill>
        </p:spPr>
      </p:sp>
      <p:sp>
        <p:nvSpPr>
          <p:cNvPr id="21" name="Text 19"/>
          <p:cNvSpPr/>
          <p:nvPr/>
        </p:nvSpPr>
        <p:spPr>
          <a:xfrm>
            <a:off x="320040" y="2715768"/>
            <a:ext cx="2286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2183A"/>
                </a:solidFill>
              </a:rPr>
              <a:t>Pulses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697480" y="2734056"/>
            <a:ext cx="557784" cy="228600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23" name="Text 21"/>
          <p:cNvSpPr/>
          <p:nvPr/>
        </p:nvSpPr>
        <p:spPr>
          <a:xfrm>
            <a:off x="3291840" y="2715768"/>
            <a:ext cx="6400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</a:rPr>
              <a:t>52.2%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977640" y="2734056"/>
            <a:ext cx="347472" cy="228600"/>
          </a:xfrm>
          <a:prstGeom prst="rect">
            <a:avLst/>
          </a:prstGeom>
          <a:solidFill>
            <a:srgbClr val="22C55E"/>
          </a:solidFill>
        </p:spPr>
      </p:sp>
      <p:sp>
        <p:nvSpPr>
          <p:cNvPr id="25" name="Text 23"/>
          <p:cNvSpPr/>
          <p:nvPr/>
        </p:nvSpPr>
        <p:spPr>
          <a:xfrm>
            <a:off x="3977640" y="2734056"/>
            <a:ext cx="347472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</a:rPr>
              <a:t>EXPAND</a:t>
            </a:r>
            <a:endParaRPr lang="en-US" sz="650" dirty="0"/>
          </a:p>
        </p:txBody>
      </p:sp>
      <p:sp>
        <p:nvSpPr>
          <p:cNvPr id="26" name="Shape 24"/>
          <p:cNvSpPr/>
          <p:nvPr/>
        </p:nvSpPr>
        <p:spPr>
          <a:xfrm>
            <a:off x="182880" y="3200400"/>
            <a:ext cx="4206240" cy="530352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7" name="Text 25"/>
          <p:cNvSpPr/>
          <p:nvPr/>
        </p:nvSpPr>
        <p:spPr>
          <a:xfrm>
            <a:off x="320040" y="3310128"/>
            <a:ext cx="2286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2183A"/>
                </a:solidFill>
              </a:rPr>
              <a:t>Namkeen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697480" y="3328416"/>
            <a:ext cx="530352" cy="228600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29" name="Text 27"/>
          <p:cNvSpPr/>
          <p:nvPr/>
        </p:nvSpPr>
        <p:spPr>
          <a:xfrm>
            <a:off x="3291840" y="3310128"/>
            <a:ext cx="6400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</a:rPr>
              <a:t>51.6%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977640" y="3328416"/>
            <a:ext cx="347472" cy="228600"/>
          </a:xfrm>
          <a:prstGeom prst="rect">
            <a:avLst/>
          </a:prstGeom>
          <a:solidFill>
            <a:srgbClr val="22C55E"/>
          </a:solidFill>
        </p:spPr>
      </p:sp>
      <p:sp>
        <p:nvSpPr>
          <p:cNvPr id="31" name="Text 29"/>
          <p:cNvSpPr/>
          <p:nvPr/>
        </p:nvSpPr>
        <p:spPr>
          <a:xfrm>
            <a:off x="3977640" y="3328416"/>
            <a:ext cx="347472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</a:rPr>
              <a:t>MONITOR</a:t>
            </a:r>
            <a:endParaRPr lang="en-US" sz="650" dirty="0"/>
          </a:p>
        </p:txBody>
      </p:sp>
      <p:sp>
        <p:nvSpPr>
          <p:cNvPr id="32" name="Shape 30"/>
          <p:cNvSpPr/>
          <p:nvPr/>
        </p:nvSpPr>
        <p:spPr>
          <a:xfrm>
            <a:off x="182880" y="3794760"/>
            <a:ext cx="4206240" cy="530352"/>
          </a:xfrm>
          <a:prstGeom prst="rect">
            <a:avLst/>
          </a:prstGeom>
          <a:solidFill>
            <a:srgbClr val="F0FDF4"/>
          </a:solidFill>
        </p:spPr>
      </p:sp>
      <p:sp>
        <p:nvSpPr>
          <p:cNvPr id="33" name="Text 31"/>
          <p:cNvSpPr/>
          <p:nvPr/>
        </p:nvSpPr>
        <p:spPr>
          <a:xfrm>
            <a:off x="320040" y="3904488"/>
            <a:ext cx="2286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2183A"/>
                </a:solidFill>
              </a:rPr>
              <a:t>Cooking Oil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697480" y="3922776"/>
            <a:ext cx="525780" cy="228600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35" name="Text 33"/>
          <p:cNvSpPr/>
          <p:nvPr/>
        </p:nvSpPr>
        <p:spPr>
          <a:xfrm>
            <a:off x="3291840" y="3904488"/>
            <a:ext cx="6400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</a:rPr>
              <a:t>51.5%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977640" y="3922776"/>
            <a:ext cx="347472" cy="228600"/>
          </a:xfrm>
          <a:prstGeom prst="rect">
            <a:avLst/>
          </a:prstGeom>
          <a:solidFill>
            <a:srgbClr val="22C55E"/>
          </a:solidFill>
        </p:spPr>
      </p:sp>
      <p:sp>
        <p:nvSpPr>
          <p:cNvPr id="37" name="Text 35"/>
          <p:cNvSpPr/>
          <p:nvPr/>
        </p:nvSpPr>
        <p:spPr>
          <a:xfrm>
            <a:off x="3977640" y="3922776"/>
            <a:ext cx="347472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</a:rPr>
              <a:t>MONITOR</a:t>
            </a:r>
            <a:endParaRPr lang="en-US" sz="650" dirty="0"/>
          </a:p>
        </p:txBody>
      </p:sp>
      <p:sp>
        <p:nvSpPr>
          <p:cNvPr id="38" name="Shape 36"/>
          <p:cNvSpPr/>
          <p:nvPr/>
        </p:nvSpPr>
        <p:spPr>
          <a:xfrm>
            <a:off x="4754880" y="987552"/>
            <a:ext cx="4206240" cy="347472"/>
          </a:xfrm>
          <a:prstGeom prst="rect">
            <a:avLst/>
          </a:prstGeom>
          <a:solidFill>
            <a:srgbClr val="EF4444"/>
          </a:solidFill>
        </p:spPr>
      </p:sp>
      <p:sp>
        <p:nvSpPr>
          <p:cNvPr id="39" name="Text 37"/>
          <p:cNvSpPr/>
          <p:nvPr/>
        </p:nvSpPr>
        <p:spPr>
          <a:xfrm>
            <a:off x="4754880" y="987552"/>
            <a:ext cx="420624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⚠️  BOTTOM 5 SUB-CATEGORIES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754880" y="1417320"/>
            <a:ext cx="4206240" cy="530352"/>
          </a:xfrm>
          <a:prstGeom prst="rect">
            <a:avLst/>
          </a:prstGeom>
          <a:solidFill>
            <a:srgbClr val="FFF1F2"/>
          </a:solidFill>
        </p:spPr>
      </p:sp>
      <p:sp>
        <p:nvSpPr>
          <p:cNvPr id="41" name="Text 39"/>
          <p:cNvSpPr/>
          <p:nvPr/>
        </p:nvSpPr>
        <p:spPr>
          <a:xfrm>
            <a:off x="4892040" y="1527048"/>
            <a:ext cx="2286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2183A"/>
                </a:solidFill>
              </a:rPr>
              <a:t>Chips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7269480" y="1545336"/>
            <a:ext cx="201168" cy="228600"/>
          </a:xfrm>
          <a:prstGeom prst="rect">
            <a:avLst/>
          </a:prstGeom>
          <a:solidFill>
            <a:srgbClr val="EF4444"/>
          </a:solidFill>
        </p:spPr>
      </p:sp>
      <p:sp>
        <p:nvSpPr>
          <p:cNvPr id="43" name="Text 41"/>
          <p:cNvSpPr/>
          <p:nvPr/>
        </p:nvSpPr>
        <p:spPr>
          <a:xfrm>
            <a:off x="7863840" y="1527048"/>
            <a:ext cx="6400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F4444"/>
                </a:solidFill>
              </a:rPr>
              <a:t>44.4%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8549640" y="1545336"/>
            <a:ext cx="347472" cy="228600"/>
          </a:xfrm>
          <a:prstGeom prst="rect">
            <a:avLst/>
          </a:prstGeom>
          <a:solidFill>
            <a:srgbClr val="EF4444"/>
          </a:solidFill>
        </p:spPr>
      </p:sp>
      <p:sp>
        <p:nvSpPr>
          <p:cNvPr id="45" name="Text 43"/>
          <p:cNvSpPr/>
          <p:nvPr/>
        </p:nvSpPr>
        <p:spPr>
          <a:xfrm>
            <a:off x="8549640" y="1545336"/>
            <a:ext cx="347472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</a:rPr>
              <a:t>REVIEW</a:t>
            </a:r>
            <a:endParaRPr lang="en-US" sz="650" dirty="0"/>
          </a:p>
        </p:txBody>
      </p:sp>
      <p:sp>
        <p:nvSpPr>
          <p:cNvPr id="46" name="Shape 44"/>
          <p:cNvSpPr/>
          <p:nvPr/>
        </p:nvSpPr>
        <p:spPr>
          <a:xfrm>
            <a:off x="4754880" y="2011680"/>
            <a:ext cx="4206240" cy="530352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47" name="Text 45"/>
          <p:cNvSpPr/>
          <p:nvPr/>
        </p:nvSpPr>
        <p:spPr>
          <a:xfrm>
            <a:off x="4892040" y="2121408"/>
            <a:ext cx="2286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2183A"/>
                </a:solidFill>
              </a:rPr>
              <a:t>Cold Drinks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7269480" y="2139696"/>
            <a:ext cx="329184" cy="228600"/>
          </a:xfrm>
          <a:prstGeom prst="rect">
            <a:avLst/>
          </a:prstGeom>
          <a:solidFill>
            <a:srgbClr val="EF4444"/>
          </a:solidFill>
        </p:spPr>
      </p:sp>
      <p:sp>
        <p:nvSpPr>
          <p:cNvPr id="49" name="Text 47"/>
          <p:cNvSpPr/>
          <p:nvPr/>
        </p:nvSpPr>
        <p:spPr>
          <a:xfrm>
            <a:off x="7863840" y="2121408"/>
            <a:ext cx="6400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F4444"/>
                </a:solidFill>
              </a:rPr>
              <a:t>47.2%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8549640" y="2139696"/>
            <a:ext cx="347472" cy="228600"/>
          </a:xfrm>
          <a:prstGeom prst="rect">
            <a:avLst/>
          </a:prstGeom>
          <a:solidFill>
            <a:srgbClr val="EF4444"/>
          </a:solidFill>
        </p:spPr>
      </p:sp>
      <p:sp>
        <p:nvSpPr>
          <p:cNvPr id="51" name="Text 49"/>
          <p:cNvSpPr/>
          <p:nvPr/>
        </p:nvSpPr>
        <p:spPr>
          <a:xfrm>
            <a:off x="8549640" y="2139696"/>
            <a:ext cx="347472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</a:rPr>
              <a:t>REVIEW</a:t>
            </a:r>
            <a:endParaRPr lang="en-US" sz="650" dirty="0"/>
          </a:p>
        </p:txBody>
      </p:sp>
      <p:sp>
        <p:nvSpPr>
          <p:cNvPr id="52" name="Shape 50"/>
          <p:cNvSpPr/>
          <p:nvPr/>
        </p:nvSpPr>
        <p:spPr>
          <a:xfrm>
            <a:off x="4754880" y="2606040"/>
            <a:ext cx="4206240" cy="530352"/>
          </a:xfrm>
          <a:prstGeom prst="rect">
            <a:avLst/>
          </a:prstGeom>
          <a:solidFill>
            <a:srgbClr val="FFF1F2"/>
          </a:solidFill>
        </p:spPr>
      </p:sp>
      <p:sp>
        <p:nvSpPr>
          <p:cNvPr id="53" name="Text 51"/>
          <p:cNvSpPr/>
          <p:nvPr/>
        </p:nvSpPr>
        <p:spPr>
          <a:xfrm>
            <a:off x="4892040" y="2715768"/>
            <a:ext cx="2286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2183A"/>
                </a:solidFill>
              </a:rPr>
              <a:t>Health Drinks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7269480" y="2734056"/>
            <a:ext cx="434340" cy="228600"/>
          </a:xfrm>
          <a:prstGeom prst="rect">
            <a:avLst/>
          </a:prstGeom>
          <a:solidFill>
            <a:srgbClr val="EF4444"/>
          </a:solidFill>
        </p:spPr>
      </p:sp>
      <p:sp>
        <p:nvSpPr>
          <p:cNvPr id="55" name="Text 53"/>
          <p:cNvSpPr/>
          <p:nvPr/>
        </p:nvSpPr>
        <p:spPr>
          <a:xfrm>
            <a:off x="7863840" y="2715768"/>
            <a:ext cx="6400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F4444"/>
                </a:solidFill>
              </a:rPr>
              <a:t>49.5%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8549640" y="2734056"/>
            <a:ext cx="347472" cy="228600"/>
          </a:xfrm>
          <a:prstGeom prst="rect">
            <a:avLst/>
          </a:prstGeom>
          <a:solidFill>
            <a:srgbClr val="F97316"/>
          </a:solidFill>
        </p:spPr>
      </p:sp>
      <p:sp>
        <p:nvSpPr>
          <p:cNvPr id="57" name="Text 55"/>
          <p:cNvSpPr/>
          <p:nvPr/>
        </p:nvSpPr>
        <p:spPr>
          <a:xfrm>
            <a:off x="8549640" y="2734056"/>
            <a:ext cx="347472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</a:rPr>
              <a:t>WATCH</a:t>
            </a:r>
            <a:endParaRPr lang="en-US" sz="650" dirty="0"/>
          </a:p>
        </p:txBody>
      </p:sp>
      <p:sp>
        <p:nvSpPr>
          <p:cNvPr id="58" name="Shape 56"/>
          <p:cNvSpPr/>
          <p:nvPr/>
        </p:nvSpPr>
        <p:spPr>
          <a:xfrm>
            <a:off x="4754880" y="3200400"/>
            <a:ext cx="4206240" cy="530352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59" name="Text 57"/>
          <p:cNvSpPr/>
          <p:nvPr/>
        </p:nvSpPr>
        <p:spPr>
          <a:xfrm>
            <a:off x="4892040" y="3310128"/>
            <a:ext cx="2286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2183A"/>
                </a:solidFill>
              </a:rPr>
              <a:t>Skin Care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7269480" y="3328416"/>
            <a:ext cx="434340" cy="228600"/>
          </a:xfrm>
          <a:prstGeom prst="rect">
            <a:avLst/>
          </a:prstGeom>
          <a:solidFill>
            <a:srgbClr val="EF4444"/>
          </a:solidFill>
        </p:spPr>
      </p:sp>
      <p:sp>
        <p:nvSpPr>
          <p:cNvPr id="61" name="Text 59"/>
          <p:cNvSpPr/>
          <p:nvPr/>
        </p:nvSpPr>
        <p:spPr>
          <a:xfrm>
            <a:off x="7863840" y="3310128"/>
            <a:ext cx="6400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F4444"/>
                </a:solidFill>
              </a:rPr>
              <a:t>49.5%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8549640" y="3328416"/>
            <a:ext cx="347472" cy="228600"/>
          </a:xfrm>
          <a:prstGeom prst="rect">
            <a:avLst/>
          </a:prstGeom>
          <a:solidFill>
            <a:srgbClr val="F97316"/>
          </a:solidFill>
        </p:spPr>
      </p:sp>
      <p:sp>
        <p:nvSpPr>
          <p:cNvPr id="63" name="Text 61"/>
          <p:cNvSpPr/>
          <p:nvPr/>
        </p:nvSpPr>
        <p:spPr>
          <a:xfrm>
            <a:off x="8549640" y="3328416"/>
            <a:ext cx="347472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</a:rPr>
              <a:t>WATCH</a:t>
            </a:r>
            <a:endParaRPr lang="en-US" sz="650" dirty="0"/>
          </a:p>
        </p:txBody>
      </p:sp>
      <p:sp>
        <p:nvSpPr>
          <p:cNvPr id="64" name="Shape 62"/>
          <p:cNvSpPr/>
          <p:nvPr/>
        </p:nvSpPr>
        <p:spPr>
          <a:xfrm>
            <a:off x="4754880" y="3794760"/>
            <a:ext cx="4206240" cy="530352"/>
          </a:xfrm>
          <a:prstGeom prst="rect">
            <a:avLst/>
          </a:prstGeom>
          <a:solidFill>
            <a:srgbClr val="FFF1F2"/>
          </a:solidFill>
        </p:spPr>
      </p:sp>
      <p:sp>
        <p:nvSpPr>
          <p:cNvPr id="65" name="Text 63"/>
          <p:cNvSpPr/>
          <p:nvPr/>
        </p:nvSpPr>
        <p:spPr>
          <a:xfrm>
            <a:off x="4892040" y="3904488"/>
            <a:ext cx="2286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2183A"/>
                </a:solidFill>
              </a:rPr>
              <a:t>Frozen Foods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7269480" y="3922776"/>
            <a:ext cx="438912" cy="228600"/>
          </a:xfrm>
          <a:prstGeom prst="rect">
            <a:avLst/>
          </a:prstGeom>
          <a:solidFill>
            <a:srgbClr val="EF4444"/>
          </a:solidFill>
        </p:spPr>
      </p:sp>
      <p:sp>
        <p:nvSpPr>
          <p:cNvPr id="67" name="Text 65"/>
          <p:cNvSpPr/>
          <p:nvPr/>
        </p:nvSpPr>
        <p:spPr>
          <a:xfrm>
            <a:off x="7863840" y="3904488"/>
            <a:ext cx="6400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F4444"/>
                </a:solidFill>
              </a:rPr>
              <a:t>49.6%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8549640" y="3922776"/>
            <a:ext cx="347472" cy="228600"/>
          </a:xfrm>
          <a:prstGeom prst="rect">
            <a:avLst/>
          </a:prstGeom>
          <a:solidFill>
            <a:srgbClr val="F97316"/>
          </a:solidFill>
        </p:spPr>
      </p:sp>
      <p:sp>
        <p:nvSpPr>
          <p:cNvPr id="69" name="Text 67"/>
          <p:cNvSpPr/>
          <p:nvPr/>
        </p:nvSpPr>
        <p:spPr>
          <a:xfrm>
            <a:off x="8549640" y="3922776"/>
            <a:ext cx="347472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</a:rPr>
              <a:t>WATCH</a:t>
            </a:r>
            <a:endParaRPr lang="en-US" sz="6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2183A"/>
          </a:solidFill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DISCOUNT % vs PROFIT MARGIN — CORRELATION ANALYSIS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74320" y="685800"/>
            <a:ext cx="2194560" cy="256032"/>
          </a:xfrm>
          <a:prstGeom prst="rect">
            <a:avLst/>
          </a:prstGeom>
          <a:solidFill>
            <a:srgbClr val="F5A623"/>
          </a:solidFill>
        </p:spPr>
      </p:sp>
      <p:sp>
        <p:nvSpPr>
          <p:cNvPr id="5" name="Text 3"/>
          <p:cNvSpPr/>
          <p:nvPr/>
        </p:nvSpPr>
        <p:spPr>
          <a:xfrm>
            <a:off x="274320" y="685800"/>
            <a:ext cx="21945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12183A"/>
                </a:solidFill>
              </a:rPr>
              <a:t>TASK 6 — DISCOUNT VS MARGIN</a:t>
            </a:r>
            <a:endParaRPr lang="en-US" sz="8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228600" y="1005840"/>
          <a:ext cx="530352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5760720" y="1005840"/>
            <a:ext cx="3154680" cy="3931920"/>
          </a:xfrm>
          <a:prstGeom prst="rect">
            <a:avLst/>
          </a:prstGeom>
          <a:solidFill>
            <a:srgbClr val="F4F6FC"/>
          </a:solidFill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897880" y="1078992"/>
            <a:ext cx="2834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12183A"/>
                </a:solidFill>
              </a:rPr>
              <a:t>KEY FINDINGS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897880" y="1481328"/>
            <a:ext cx="54864" cy="594360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10" name="Text 7"/>
          <p:cNvSpPr/>
          <p:nvPr/>
        </p:nvSpPr>
        <p:spPr>
          <a:xfrm>
            <a:off x="6035040" y="1481328"/>
            <a:ext cx="26517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</a:rPr>
              <a:t>0% Discount → 54.9%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6035040" y="1719072"/>
            <a:ext cx="26517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64748B"/>
                </a:solidFill>
              </a:rPr>
              <a:t>Highest margin. Full-price sales maximize profitability.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5897880" y="2304288"/>
            <a:ext cx="54864" cy="594360"/>
          </a:xfrm>
          <a:prstGeom prst="rect">
            <a:avLst/>
          </a:prstGeom>
          <a:solidFill>
            <a:srgbClr val="F5A623"/>
          </a:solidFill>
        </p:spPr>
      </p:sp>
      <p:sp>
        <p:nvSpPr>
          <p:cNvPr id="13" name="Text 10"/>
          <p:cNvSpPr/>
          <p:nvPr/>
        </p:nvSpPr>
        <p:spPr>
          <a:xfrm>
            <a:off x="6035040" y="2304288"/>
            <a:ext cx="26517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A623"/>
                </a:solidFill>
              </a:rPr>
              <a:t>10% Discount → 50.6%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6035040" y="2542032"/>
            <a:ext cx="26517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64748B"/>
                </a:solidFill>
              </a:rPr>
              <a:t>Moderate drop of 4.3pp. Manageable for volume drives.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5897880" y="3127248"/>
            <a:ext cx="54864" cy="594360"/>
          </a:xfrm>
          <a:prstGeom prst="rect">
            <a:avLst/>
          </a:prstGeom>
          <a:solidFill>
            <a:srgbClr val="EF4444"/>
          </a:solidFill>
        </p:spPr>
      </p:sp>
      <p:sp>
        <p:nvSpPr>
          <p:cNvPr id="16" name="Text 13"/>
          <p:cNvSpPr/>
          <p:nvPr/>
        </p:nvSpPr>
        <p:spPr>
          <a:xfrm>
            <a:off x="6035040" y="3127248"/>
            <a:ext cx="26517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F4444"/>
                </a:solidFill>
              </a:rPr>
              <a:t>20% Discount → 44.2%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6035040" y="3364992"/>
            <a:ext cx="26517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64748B"/>
                </a:solidFill>
              </a:rPr>
              <a:t>Sharp drop of 10.7pp. High discount erodes margins significantly.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5897880" y="3950208"/>
            <a:ext cx="54864" cy="594360"/>
          </a:xfrm>
          <a:prstGeom prst="rect">
            <a:avLst/>
          </a:prstGeom>
          <a:solidFill>
            <a:srgbClr val="8B5CF6"/>
          </a:solidFill>
        </p:spPr>
      </p:sp>
      <p:sp>
        <p:nvSpPr>
          <p:cNvPr id="19" name="Text 16"/>
          <p:cNvSpPr/>
          <p:nvPr/>
        </p:nvSpPr>
        <p:spPr>
          <a:xfrm>
            <a:off x="6035040" y="3950208"/>
            <a:ext cx="26517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B5CF6"/>
                </a:solidFill>
              </a:rPr>
              <a:t>Q4 Answer: YES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6035040" y="4187952"/>
            <a:ext cx="26517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64748B"/>
                </a:solidFill>
              </a:rPr>
              <a:t>Higher discounts always result in lower margins — confirmed trend.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2183A"/>
          </a:solidFill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RETURN RATE ANALYSIS — HIGH RISK PRODUCTS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74320" y="685800"/>
            <a:ext cx="2194560" cy="256032"/>
          </a:xfrm>
          <a:prstGeom prst="rect">
            <a:avLst/>
          </a:prstGeom>
          <a:solidFill>
            <a:srgbClr val="F5A623"/>
          </a:solidFill>
        </p:spPr>
      </p:sp>
      <p:sp>
        <p:nvSpPr>
          <p:cNvPr id="5" name="Text 3"/>
          <p:cNvSpPr/>
          <p:nvPr/>
        </p:nvSpPr>
        <p:spPr>
          <a:xfrm>
            <a:off x="274320" y="685800"/>
            <a:ext cx="21945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12183A"/>
                </a:solidFill>
              </a:rPr>
              <a:t>TASK 7 — RETURN RATE REVIEW</a:t>
            </a:r>
            <a:endParaRPr lang="en-US" sz="8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/>
        </p:nvGraphicFramePr>
        <p:xfrm>
          <a:off x="228600" y="960120"/>
          <a:ext cx="6400800" cy="3977644"/>
        </p:xfrm>
        <a:graphic>
          <a:graphicData uri="http://schemas.openxmlformats.org/drawingml/2006/table">
            <a:tbl>
              <a:tblPr/>
              <a:tblGrid>
                <a:gridCol w="2560320"/>
                <a:gridCol w="1005840"/>
                <a:gridCol w="914400"/>
                <a:gridCol w="1005840"/>
                <a:gridCol w="914400"/>
              </a:tblGrid>
              <a:tr h="3616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Product Name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Return Rate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Returns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Total Orders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Risk Level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3A"/>
                    </a:solidFill>
                  </a:tcPr>
                </a:tc>
              </a:tr>
              <a:tr h="3616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2183A"/>
                          </a:solidFill>
                        </a:rPr>
                        <a:t>McCain Fries 450g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EF4444"/>
                          </a:solidFill>
                        </a:rPr>
                        <a:t>11.1%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2183A"/>
                          </a:solidFill>
                        </a:rPr>
                        <a:t>84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2183A"/>
                          </a:solidFill>
                        </a:rPr>
                        <a:t>757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HIGH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4444"/>
                    </a:solidFill>
                  </a:tcPr>
                </a:tc>
              </a:tr>
              <a:tr h="3616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2183A"/>
                          </a:solidFill>
                        </a:rPr>
                        <a:t>Chana Dal 1kg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EF4444"/>
                          </a:solidFill>
                        </a:rPr>
                        <a:t>11%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2183A"/>
                          </a:solidFill>
                        </a:rPr>
                        <a:t>85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2183A"/>
                          </a:solidFill>
                        </a:rPr>
                        <a:t>773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HIGH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4444"/>
                    </a:solidFill>
                  </a:tcPr>
                </a:tc>
              </a:tr>
              <a:tr h="3616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2183A"/>
                          </a:solidFill>
                        </a:rPr>
                        <a:t>Bournvita 500g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EF4444"/>
                          </a:solidFill>
                        </a:rPr>
                        <a:t>10.7%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2183A"/>
                          </a:solidFill>
                        </a:rPr>
                        <a:t>80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2183A"/>
                          </a:solidFill>
                        </a:rPr>
                        <a:t>748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HIGH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4444"/>
                    </a:solidFill>
                  </a:tcPr>
                </a:tc>
              </a:tr>
              <a:tr h="3616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2183A"/>
                          </a:solidFill>
                        </a:rPr>
                        <a:t>Amul Paneer 200g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EF4444"/>
                          </a:solidFill>
                        </a:rPr>
                        <a:t>10.3%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2183A"/>
                          </a:solidFill>
                        </a:rPr>
                        <a:t>78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2183A"/>
                          </a:solidFill>
                        </a:rPr>
                        <a:t>760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HIGH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4444"/>
                    </a:solidFill>
                  </a:tcPr>
                </a:tc>
              </a:tr>
              <a:tr h="3616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2183A"/>
                          </a:solidFill>
                        </a:rPr>
                        <a:t>Pampers Small 52-Pack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97316"/>
                          </a:solidFill>
                        </a:rPr>
                        <a:t>9.8%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2183A"/>
                          </a:solidFill>
                        </a:rPr>
                        <a:t>77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2183A"/>
                          </a:solidFill>
                        </a:rPr>
                        <a:t>788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WATCH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7316"/>
                    </a:solidFill>
                  </a:tcPr>
                </a:tc>
              </a:tr>
              <a:tr h="3616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2183A"/>
                          </a:solidFill>
                        </a:rPr>
                        <a:t>Real Mango Juice 1L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97316"/>
                          </a:solidFill>
                        </a:rPr>
                        <a:t>9.7%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2183A"/>
                          </a:solidFill>
                        </a:rPr>
                        <a:t>76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2183A"/>
                          </a:solidFill>
                        </a:rPr>
                        <a:t>782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WATCH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7316"/>
                    </a:solidFill>
                  </a:tcPr>
                </a:tc>
              </a:tr>
              <a:tr h="3616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2183A"/>
                          </a:solidFill>
                        </a:rPr>
                        <a:t>Dettol Handwash 200ml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97316"/>
                          </a:solidFill>
                        </a:rPr>
                        <a:t>9.6%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2183A"/>
                          </a:solidFill>
                        </a:rPr>
                        <a:t>77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2183A"/>
                          </a:solidFill>
                        </a:rPr>
                        <a:t>799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WATCH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7316"/>
                    </a:solidFill>
                  </a:tcPr>
                </a:tc>
              </a:tr>
              <a:tr h="3616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2183A"/>
                          </a:solidFill>
                        </a:rPr>
                        <a:t>Poha 500g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97316"/>
                          </a:solidFill>
                        </a:rPr>
                        <a:t>9.6%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2183A"/>
                          </a:solidFill>
                        </a:rPr>
                        <a:t>77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2183A"/>
                          </a:solidFill>
                        </a:rPr>
                        <a:t>799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WATCH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7316"/>
                    </a:solidFill>
                  </a:tcPr>
                </a:tc>
              </a:tr>
              <a:tr h="3616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2183A"/>
                          </a:solidFill>
                        </a:rPr>
                        <a:t>Dove Shampoo 340ml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97316"/>
                          </a:solidFill>
                        </a:rPr>
                        <a:t>9.6%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2183A"/>
                          </a:solidFill>
                        </a:rPr>
                        <a:t>73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2183A"/>
                          </a:solidFill>
                        </a:rPr>
                        <a:t>762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WATCH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7316"/>
                    </a:solidFill>
                  </a:tcPr>
                </a:tc>
              </a:tr>
              <a:tr h="3616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2183A"/>
                          </a:solidFill>
                        </a:rPr>
                        <a:t>Toor Dal 1kg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97316"/>
                          </a:solidFill>
                        </a:rPr>
                        <a:t>9.5%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2183A"/>
                          </a:solidFill>
                        </a:rPr>
                        <a:t>77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2183A"/>
                          </a:solidFill>
                        </a:rPr>
                        <a:t>807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WATCH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7316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903720" y="960120"/>
            <a:ext cx="2011680" cy="397764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995160" y="1024128"/>
            <a:ext cx="18288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12183A"/>
                </a:solidFill>
              </a:rPr>
              <a:t>INSIGHTS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6995160" y="1371600"/>
            <a:ext cx="182880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2183A"/>
                </a:solidFill>
              </a:rPr>
              <a:t>🔴 4 products exceed</a:t>
            </a:r>
            <a:endParaRPr lang="en-US" sz="8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2183A"/>
                </a:solidFill>
              </a:rPr>
              <a:t>10% return rate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6995160" y="2194560"/>
            <a:ext cx="182880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2183A"/>
                </a:solidFill>
              </a:rPr>
              <a:t>⚠️ Frozen &amp; Dairy show</a:t>
            </a:r>
            <a:endParaRPr lang="en-US" sz="8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2183A"/>
                </a:solidFill>
              </a:rPr>
              <a:t>highest return risk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6995160" y="3017520"/>
            <a:ext cx="182880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2183A"/>
                </a:solidFill>
              </a:rPr>
              <a:t>💡 Quality control &amp;</a:t>
            </a:r>
            <a:endParaRPr lang="en-US" sz="8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2183A"/>
                </a:solidFill>
              </a:rPr>
              <a:t>cold chain needed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6995160" y="3840480"/>
            <a:ext cx="182880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2183A"/>
                </a:solidFill>
              </a:rPr>
              <a:t>📦 No product meets</a:t>
            </a:r>
            <a:endParaRPr lang="en-US" sz="8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2183A"/>
                </a:solidFill>
              </a:rPr>
              <a:t>both flags (margin</a:t>
            </a:r>
            <a:endParaRPr lang="en-US" sz="8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2183A"/>
                </a:solidFill>
              </a:rPr>
              <a:t>&lt; 40% + returns</a:t>
            </a:r>
            <a:endParaRPr lang="en-US" sz="8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2183A"/>
                </a:solidFill>
              </a:rPr>
              <a:t>&gt; 10%)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2183A"/>
          </a:solidFill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CUMULATIVE REVENUE % — ABC THRESHOLD ANALYSIS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74320" y="685800"/>
            <a:ext cx="2194560" cy="256032"/>
          </a:xfrm>
          <a:prstGeom prst="rect">
            <a:avLst/>
          </a:prstGeom>
          <a:solidFill>
            <a:srgbClr val="F5A623"/>
          </a:solidFill>
        </p:spPr>
      </p:sp>
      <p:sp>
        <p:nvSpPr>
          <p:cNvPr id="5" name="Text 3"/>
          <p:cNvSpPr/>
          <p:nvPr/>
        </p:nvSpPr>
        <p:spPr>
          <a:xfrm>
            <a:off x="274320" y="685800"/>
            <a:ext cx="21945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12183A"/>
                </a:solidFill>
              </a:rPr>
              <a:t>TASK 2 &amp; 3 — CUMULATIVE ANALYSIS</a:t>
            </a:r>
            <a:endParaRPr lang="en-US" sz="8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/>
        </p:nvGraphicFramePr>
        <p:xfrm>
          <a:off x="228600" y="914400"/>
          <a:ext cx="8686800" cy="4023360"/>
        </p:xfrm>
        <a:graphic>
          <a:graphicData uri="http://schemas.openxmlformats.org/drawingml/2006/table">
            <a:tbl>
              <a:tblPr/>
              <a:tblGrid>
                <a:gridCol w="411480"/>
                <a:gridCol w="2834640"/>
                <a:gridCol w="1280160"/>
                <a:gridCol w="1005840"/>
                <a:gridCol w="1463040"/>
                <a:gridCol w="731520"/>
              </a:tblGrid>
              <a:tr h="30948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Product Name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Revenue (₹L)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Rev %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Cumulative %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Class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3A"/>
                    </a:solidFill>
                  </a:tcPr>
                </a:tc>
              </a:tr>
              <a:tr h="30948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</a:rPr>
                        <a:t>1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2183A"/>
                          </a:solidFill>
                        </a:rPr>
                        <a:t>Pampers Small 52-Pack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2E4FA3"/>
                          </a:solidFill>
                        </a:rPr>
                        <a:t>18.9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</a:rPr>
                        <a:t>4.97%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0D9488"/>
                          </a:solidFill>
                        </a:rPr>
                        <a:t>4.97%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A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C55E"/>
                    </a:solidFill>
                  </a:tcPr>
                </a:tc>
              </a:tr>
              <a:tr h="30948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</a:rPr>
                        <a:t>2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2183A"/>
                          </a:solidFill>
                        </a:rPr>
                        <a:t>Huggies Medium 44-Pack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2E4FA3"/>
                          </a:solidFill>
                        </a:rPr>
                        <a:t>17.6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</a:rPr>
                        <a:t>4.63%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0D9488"/>
                          </a:solidFill>
                        </a:rPr>
                        <a:t>9.60%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A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C55E"/>
                    </a:solidFill>
                  </a:tcPr>
                </a:tc>
              </a:tr>
              <a:tr h="30948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</a:rPr>
                        <a:t>3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2183A"/>
                          </a:solidFill>
                        </a:rPr>
                        <a:t>Wheat Flour 10kg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2E4FA3"/>
                          </a:solidFill>
                        </a:rPr>
                        <a:t>16.0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</a:rPr>
                        <a:t>4.22%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0D9488"/>
                          </a:solidFill>
                        </a:rPr>
                        <a:t>13.82%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A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C55E"/>
                    </a:solidFill>
                  </a:tcPr>
                </a:tc>
              </a:tr>
              <a:tr h="30948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</a:rPr>
                        <a:t>4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2183A"/>
                          </a:solidFill>
                        </a:rPr>
                        <a:t>Ariel Powder 2kg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2E4FA3"/>
                          </a:solidFill>
                        </a:rPr>
                        <a:t>12.3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</a:rPr>
                        <a:t>3.24%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0D9488"/>
                          </a:solidFill>
                        </a:rPr>
                        <a:t>17.06%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A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C55E"/>
                    </a:solidFill>
                  </a:tcPr>
                </a:tc>
              </a:tr>
              <a:tr h="30948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</a:rPr>
                        <a:t>5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2183A"/>
                          </a:solidFill>
                        </a:rPr>
                        <a:t>Horlicks 500g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2E4FA3"/>
                          </a:solidFill>
                        </a:rPr>
                        <a:t>11.9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</a:rPr>
                        <a:t>3.14%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0D9488"/>
                          </a:solidFill>
                        </a:rPr>
                        <a:t>20.20%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A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C55E"/>
                    </a:solidFill>
                  </a:tcPr>
                </a:tc>
              </a:tr>
              <a:tr h="30948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</a:rPr>
                        <a:t>6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2183A"/>
                          </a:solidFill>
                        </a:rPr>
                        <a:t>Surf Excel 2kg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2E4FA3"/>
                          </a:solidFill>
                        </a:rPr>
                        <a:t>11.1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</a:rPr>
                        <a:t>2.92%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0D9488"/>
                          </a:solidFill>
                        </a:rPr>
                        <a:t>23.12%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A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C55E"/>
                    </a:solidFill>
                  </a:tcPr>
                </a:tc>
              </a:tr>
              <a:tr h="30948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</a:rPr>
                        <a:t>7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2183A"/>
                          </a:solidFill>
                        </a:rPr>
                        <a:t>Basmati Rice 5kg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2E4FA3"/>
                          </a:solidFill>
                        </a:rPr>
                        <a:t>10.9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</a:rPr>
                        <a:t>2.87%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0D9488"/>
                          </a:solidFill>
                        </a:rPr>
                        <a:t>25.99%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A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C55E"/>
                    </a:solidFill>
                  </a:tcPr>
                </a:tc>
              </a:tr>
              <a:tr h="30948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</a:rPr>
                        <a:t>8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2183A"/>
                          </a:solidFill>
                        </a:rPr>
                        <a:t>Sona Masoori 5kg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2E4FA3"/>
                          </a:solidFill>
                        </a:rPr>
                        <a:t>10.2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</a:rPr>
                        <a:t>2.68%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0D9488"/>
                          </a:solidFill>
                        </a:rPr>
                        <a:t>28.67%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A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C55E"/>
                    </a:solidFill>
                  </a:tcPr>
                </a:tc>
              </a:tr>
              <a:tr h="30948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</a:rPr>
                        <a:t>9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2183A"/>
                          </a:solidFill>
                        </a:rPr>
                        <a:t>Bru Coffee 200g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2E4FA3"/>
                          </a:solidFill>
                        </a:rPr>
                        <a:t>10.2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</a:rPr>
                        <a:t>2.69%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0D9488"/>
                          </a:solidFill>
                        </a:rPr>
                        <a:t>31.36%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A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C55E"/>
                    </a:solidFill>
                  </a:tcPr>
                </a:tc>
              </a:tr>
              <a:tr h="30948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</a:rPr>
                        <a:t>10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2183A"/>
                          </a:solidFill>
                        </a:rPr>
                        <a:t>A4 Paper 500 Sheets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2E4FA3"/>
                          </a:solidFill>
                        </a:rPr>
                        <a:t>10.2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</a:rPr>
                        <a:t>2.70%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0D9488"/>
                          </a:solidFill>
                        </a:rPr>
                        <a:t>34.06%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A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C55E"/>
                    </a:solidFill>
                  </a:tcPr>
                </a:tc>
              </a:tr>
              <a:tr h="30948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</a:rPr>
                        <a:t>11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2183A"/>
                          </a:solidFill>
                        </a:rPr>
                        <a:t>Tata Salt 1kg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2E4FA3"/>
                          </a:solidFill>
                        </a:rPr>
                        <a:t>9.9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</a:rPr>
                        <a:t>2.60%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0D9488"/>
                          </a:solidFill>
                        </a:rPr>
                        <a:t>36.66%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A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C55E"/>
                    </a:solidFill>
                  </a:tcPr>
                </a:tc>
              </a:tr>
              <a:tr h="30948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</a:rPr>
                        <a:t>12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2183A"/>
                          </a:solidFill>
                        </a:rPr>
                        <a:t>Amul Butter 500g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2E4FA3"/>
                          </a:solidFill>
                        </a:rPr>
                        <a:t>9.5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</a:rPr>
                        <a:t>2.49%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0D9488"/>
                          </a:solidFill>
                        </a:rPr>
                        <a:t>39.15%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A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C55E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228600" y="4983480"/>
            <a:ext cx="8686800" cy="27432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8" name="Text 5"/>
          <p:cNvSpPr/>
          <p:nvPr/>
        </p:nvSpPr>
        <p:spPr>
          <a:xfrm>
            <a:off x="228600" y="4937760"/>
            <a:ext cx="86868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64748B"/>
                </a:solidFill>
              </a:rPr>
              <a:t>Formula: Cumulative Revenue % = Running Total Revenue / Grand Total × 100 | A ≤ 70% | B ≤ 90% | C = Rest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2183A"/>
          </a:solidFill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SUB-CATEGORY STRATEGY — EXPAND vs DISCONTINUE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74320" y="685800"/>
            <a:ext cx="2194560" cy="256032"/>
          </a:xfrm>
          <a:prstGeom prst="rect">
            <a:avLst/>
          </a:prstGeom>
          <a:solidFill>
            <a:srgbClr val="F5A623"/>
          </a:solidFill>
        </p:spPr>
      </p:sp>
      <p:sp>
        <p:nvSpPr>
          <p:cNvPr id="5" name="Text 3"/>
          <p:cNvSpPr/>
          <p:nvPr/>
        </p:nvSpPr>
        <p:spPr>
          <a:xfrm>
            <a:off x="274320" y="685800"/>
            <a:ext cx="21945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12183A"/>
                </a:solidFill>
              </a:rPr>
              <a:t>STRATEGIC RECOMMENDATIONS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182880" y="1005840"/>
            <a:ext cx="4160520" cy="384048"/>
          </a:xfrm>
          <a:prstGeom prst="rect">
            <a:avLst/>
          </a:prstGeom>
          <a:solidFill>
            <a:srgbClr val="22C55E"/>
          </a:solidFill>
        </p:spPr>
      </p:sp>
      <p:sp>
        <p:nvSpPr>
          <p:cNvPr id="7" name="Text 5"/>
          <p:cNvSpPr/>
          <p:nvPr/>
        </p:nvSpPr>
        <p:spPr>
          <a:xfrm>
            <a:off x="182880" y="1005840"/>
            <a:ext cx="416052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✅  EXPAND THESE SUB-CATEGORIES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82880" y="1463040"/>
            <a:ext cx="4160520" cy="594360"/>
          </a:xfrm>
          <a:prstGeom prst="rect">
            <a:avLst/>
          </a:prstGeom>
          <a:solidFill>
            <a:srgbClr val="F0FDF4"/>
          </a:solidFill>
        </p:spPr>
      </p:sp>
      <p:sp>
        <p:nvSpPr>
          <p:cNvPr id="9" name="Shape 7"/>
          <p:cNvSpPr/>
          <p:nvPr/>
        </p:nvSpPr>
        <p:spPr>
          <a:xfrm>
            <a:off x="182880" y="1463040"/>
            <a:ext cx="64008" cy="594360"/>
          </a:xfrm>
          <a:prstGeom prst="rect">
            <a:avLst/>
          </a:prstGeom>
          <a:solidFill>
            <a:srgbClr val="22C55E"/>
          </a:solidFill>
        </p:spPr>
      </p:sp>
      <p:sp>
        <p:nvSpPr>
          <p:cNvPr id="10" name="Text 8"/>
          <p:cNvSpPr/>
          <p:nvPr/>
        </p:nvSpPr>
        <p:spPr>
          <a:xfrm>
            <a:off x="347472" y="1517904"/>
            <a:ext cx="237744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2183A"/>
                </a:solidFill>
              </a:rPr>
              <a:t>Rice &amp; Grains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47472" y="1755648"/>
            <a:ext cx="274320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54% margin, high volume, consistent demand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291840" y="1600200"/>
            <a:ext cx="9144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5A623"/>
                </a:solidFill>
              </a:rPr>
              <a:t>★★★★★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82880" y="2121408"/>
            <a:ext cx="4160520" cy="59436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4" name="Shape 12"/>
          <p:cNvSpPr/>
          <p:nvPr/>
        </p:nvSpPr>
        <p:spPr>
          <a:xfrm>
            <a:off x="182880" y="2121408"/>
            <a:ext cx="64008" cy="594360"/>
          </a:xfrm>
          <a:prstGeom prst="rect">
            <a:avLst/>
          </a:prstGeom>
          <a:solidFill>
            <a:srgbClr val="22C55E"/>
          </a:solidFill>
        </p:spPr>
      </p:sp>
      <p:sp>
        <p:nvSpPr>
          <p:cNvPr id="15" name="Text 13"/>
          <p:cNvSpPr/>
          <p:nvPr/>
        </p:nvSpPr>
        <p:spPr>
          <a:xfrm>
            <a:off x="347472" y="2176272"/>
            <a:ext cx="237744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2183A"/>
                </a:solidFill>
              </a:rPr>
              <a:t>Spices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2414016"/>
            <a:ext cx="274320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53.9% margin, essential FMCG, low returns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291840" y="2258568"/>
            <a:ext cx="9144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5A623"/>
                </a:solidFill>
              </a:rPr>
              <a:t>★★★★★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82880" y="2779776"/>
            <a:ext cx="4160520" cy="594360"/>
          </a:xfrm>
          <a:prstGeom prst="rect">
            <a:avLst/>
          </a:prstGeom>
          <a:solidFill>
            <a:srgbClr val="F0FDF4"/>
          </a:solidFill>
        </p:spPr>
      </p:sp>
      <p:sp>
        <p:nvSpPr>
          <p:cNvPr id="19" name="Shape 17"/>
          <p:cNvSpPr/>
          <p:nvPr/>
        </p:nvSpPr>
        <p:spPr>
          <a:xfrm>
            <a:off x="182880" y="2779776"/>
            <a:ext cx="64008" cy="594360"/>
          </a:xfrm>
          <a:prstGeom prst="rect">
            <a:avLst/>
          </a:prstGeom>
          <a:solidFill>
            <a:srgbClr val="22C55E"/>
          </a:solidFill>
        </p:spPr>
      </p:sp>
      <p:sp>
        <p:nvSpPr>
          <p:cNvPr id="20" name="Text 18"/>
          <p:cNvSpPr/>
          <p:nvPr/>
        </p:nvSpPr>
        <p:spPr>
          <a:xfrm>
            <a:off x="347472" y="2834640"/>
            <a:ext cx="237744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2183A"/>
                </a:solidFill>
              </a:rPr>
              <a:t>Pulses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47472" y="3072384"/>
            <a:ext cx="274320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52.2% margin, evergreen category, low waste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291840" y="2916936"/>
            <a:ext cx="9144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5A623"/>
                </a:solidFill>
              </a:rPr>
              <a:t>★★★★☆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182880" y="3438144"/>
            <a:ext cx="4160520" cy="59436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4" name="Shape 22"/>
          <p:cNvSpPr/>
          <p:nvPr/>
        </p:nvSpPr>
        <p:spPr>
          <a:xfrm>
            <a:off x="182880" y="3438144"/>
            <a:ext cx="64008" cy="594360"/>
          </a:xfrm>
          <a:prstGeom prst="rect">
            <a:avLst/>
          </a:prstGeom>
          <a:solidFill>
            <a:srgbClr val="22C55E"/>
          </a:solidFill>
        </p:spPr>
      </p:sp>
      <p:sp>
        <p:nvSpPr>
          <p:cNvPr id="25" name="Text 23"/>
          <p:cNvSpPr/>
          <p:nvPr/>
        </p:nvSpPr>
        <p:spPr>
          <a:xfrm>
            <a:off x="347472" y="3493008"/>
            <a:ext cx="237744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2183A"/>
                </a:solidFill>
              </a:rPr>
              <a:t>Baby Diapers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47472" y="3730752"/>
            <a:ext cx="274320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49%+ margin, high ticket value, loyal buyers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3291840" y="3575304"/>
            <a:ext cx="9144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5A623"/>
                </a:solidFill>
              </a:rPr>
              <a:t>★★★★☆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182880" y="4096512"/>
            <a:ext cx="4160520" cy="594360"/>
          </a:xfrm>
          <a:prstGeom prst="rect">
            <a:avLst/>
          </a:prstGeom>
          <a:solidFill>
            <a:srgbClr val="F0FDF4"/>
          </a:solidFill>
        </p:spPr>
      </p:sp>
      <p:sp>
        <p:nvSpPr>
          <p:cNvPr id="29" name="Shape 27"/>
          <p:cNvSpPr/>
          <p:nvPr/>
        </p:nvSpPr>
        <p:spPr>
          <a:xfrm>
            <a:off x="182880" y="4096512"/>
            <a:ext cx="64008" cy="594360"/>
          </a:xfrm>
          <a:prstGeom prst="rect">
            <a:avLst/>
          </a:prstGeom>
          <a:solidFill>
            <a:srgbClr val="22C55E"/>
          </a:solidFill>
        </p:spPr>
      </p:sp>
      <p:sp>
        <p:nvSpPr>
          <p:cNvPr id="30" name="Text 28"/>
          <p:cNvSpPr/>
          <p:nvPr/>
        </p:nvSpPr>
        <p:spPr>
          <a:xfrm>
            <a:off x="347472" y="4151376"/>
            <a:ext cx="237744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2183A"/>
                </a:solidFill>
              </a:rPr>
              <a:t>Detergents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47472" y="4389120"/>
            <a:ext cx="274320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49.8% margin, A-class products, premium brands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3291840" y="4233672"/>
            <a:ext cx="9144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5A623"/>
                </a:solidFill>
              </a:rPr>
              <a:t>★★★★☆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754880" y="1005840"/>
            <a:ext cx="4160520" cy="384048"/>
          </a:xfrm>
          <a:prstGeom prst="rect">
            <a:avLst/>
          </a:prstGeom>
          <a:solidFill>
            <a:srgbClr val="EF4444"/>
          </a:solidFill>
        </p:spPr>
      </p:sp>
      <p:sp>
        <p:nvSpPr>
          <p:cNvPr id="34" name="Text 32"/>
          <p:cNvSpPr/>
          <p:nvPr/>
        </p:nvSpPr>
        <p:spPr>
          <a:xfrm>
            <a:off x="4754880" y="1005840"/>
            <a:ext cx="416052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🔴  REVIEW / DISCONTINUE THESE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754880" y="1463040"/>
            <a:ext cx="4160520" cy="594360"/>
          </a:xfrm>
          <a:prstGeom prst="rect">
            <a:avLst/>
          </a:prstGeom>
          <a:solidFill>
            <a:srgbClr val="FFF1F2"/>
          </a:solidFill>
        </p:spPr>
      </p:sp>
      <p:sp>
        <p:nvSpPr>
          <p:cNvPr id="36" name="Shape 34"/>
          <p:cNvSpPr/>
          <p:nvPr/>
        </p:nvSpPr>
        <p:spPr>
          <a:xfrm>
            <a:off x="4754880" y="1463040"/>
            <a:ext cx="64008" cy="594360"/>
          </a:xfrm>
          <a:prstGeom prst="rect">
            <a:avLst/>
          </a:prstGeom>
          <a:solidFill>
            <a:srgbClr val="EF4444"/>
          </a:solidFill>
        </p:spPr>
      </p:sp>
      <p:sp>
        <p:nvSpPr>
          <p:cNvPr id="37" name="Text 35"/>
          <p:cNvSpPr/>
          <p:nvPr/>
        </p:nvSpPr>
        <p:spPr>
          <a:xfrm>
            <a:off x="4919472" y="1517904"/>
            <a:ext cx="237744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2183A"/>
                </a:solidFill>
              </a:rPr>
              <a:t>Chips (Kurkure, Lays)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919472" y="1755648"/>
            <a:ext cx="274320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Lowest margin 44.4%, high competition, low profit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7726680" y="1618488"/>
            <a:ext cx="1097280" cy="256032"/>
          </a:xfrm>
          <a:prstGeom prst="rect">
            <a:avLst/>
          </a:prstGeom>
          <a:solidFill>
            <a:srgbClr val="EF4444"/>
          </a:solidFill>
        </p:spPr>
      </p:sp>
      <p:sp>
        <p:nvSpPr>
          <p:cNvPr id="40" name="Text 38"/>
          <p:cNvSpPr/>
          <p:nvPr/>
        </p:nvSpPr>
        <p:spPr>
          <a:xfrm>
            <a:off x="7726680" y="1618488"/>
            <a:ext cx="10972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DISCONTINUE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4754880" y="2121408"/>
            <a:ext cx="4160520" cy="59436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42" name="Shape 40"/>
          <p:cNvSpPr/>
          <p:nvPr/>
        </p:nvSpPr>
        <p:spPr>
          <a:xfrm>
            <a:off x="4754880" y="2121408"/>
            <a:ext cx="64008" cy="594360"/>
          </a:xfrm>
          <a:prstGeom prst="rect">
            <a:avLst/>
          </a:prstGeom>
          <a:solidFill>
            <a:srgbClr val="F97316"/>
          </a:solidFill>
        </p:spPr>
      </p:sp>
      <p:sp>
        <p:nvSpPr>
          <p:cNvPr id="43" name="Text 41"/>
          <p:cNvSpPr/>
          <p:nvPr/>
        </p:nvSpPr>
        <p:spPr>
          <a:xfrm>
            <a:off x="4919472" y="2176272"/>
            <a:ext cx="237744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2183A"/>
                </a:solidFill>
              </a:rPr>
              <a:t>Cold Drinks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919472" y="2414016"/>
            <a:ext cx="274320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47.2% margin, Pepsi/Coca-Cola low value, seasonal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7726680" y="2276856"/>
            <a:ext cx="1097280" cy="256032"/>
          </a:xfrm>
          <a:prstGeom prst="rect">
            <a:avLst/>
          </a:prstGeom>
          <a:solidFill>
            <a:srgbClr val="F97316"/>
          </a:solidFill>
        </p:spPr>
      </p:sp>
      <p:sp>
        <p:nvSpPr>
          <p:cNvPr id="46" name="Text 44"/>
          <p:cNvSpPr/>
          <p:nvPr/>
        </p:nvSpPr>
        <p:spPr>
          <a:xfrm>
            <a:off x="7726680" y="2276856"/>
            <a:ext cx="10972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REDUCE SKUs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4754880" y="2779776"/>
            <a:ext cx="4160520" cy="594360"/>
          </a:xfrm>
          <a:prstGeom prst="rect">
            <a:avLst/>
          </a:prstGeom>
          <a:solidFill>
            <a:srgbClr val="FFF1F2"/>
          </a:solidFill>
        </p:spPr>
      </p:sp>
      <p:sp>
        <p:nvSpPr>
          <p:cNvPr id="48" name="Shape 46"/>
          <p:cNvSpPr/>
          <p:nvPr/>
        </p:nvSpPr>
        <p:spPr>
          <a:xfrm>
            <a:off x="4754880" y="2779776"/>
            <a:ext cx="64008" cy="594360"/>
          </a:xfrm>
          <a:prstGeom prst="rect">
            <a:avLst/>
          </a:prstGeom>
          <a:solidFill>
            <a:srgbClr val="F5A623"/>
          </a:solidFill>
        </p:spPr>
      </p:sp>
      <p:sp>
        <p:nvSpPr>
          <p:cNvPr id="49" name="Text 47"/>
          <p:cNvSpPr/>
          <p:nvPr/>
        </p:nvSpPr>
        <p:spPr>
          <a:xfrm>
            <a:off x="4919472" y="2834640"/>
            <a:ext cx="237744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2183A"/>
                </a:solidFill>
              </a:rPr>
              <a:t>Frozen Foods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4919472" y="3072384"/>
            <a:ext cx="274320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49.6% margin + highest return risk (McCain 11.1%)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7726680" y="2935224"/>
            <a:ext cx="1097280" cy="256032"/>
          </a:xfrm>
          <a:prstGeom prst="rect">
            <a:avLst/>
          </a:prstGeom>
          <a:solidFill>
            <a:srgbClr val="F5A623"/>
          </a:solidFill>
        </p:spPr>
      </p:sp>
      <p:sp>
        <p:nvSpPr>
          <p:cNvPr id="52" name="Text 50"/>
          <p:cNvSpPr/>
          <p:nvPr/>
        </p:nvSpPr>
        <p:spPr>
          <a:xfrm>
            <a:off x="7726680" y="2935224"/>
            <a:ext cx="10972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REVIEW</a:t>
            </a:r>
            <a:endParaRPr lang="en-US" sz="700" dirty="0"/>
          </a:p>
        </p:txBody>
      </p:sp>
      <p:sp>
        <p:nvSpPr>
          <p:cNvPr id="53" name="Shape 51"/>
          <p:cNvSpPr/>
          <p:nvPr/>
        </p:nvSpPr>
        <p:spPr>
          <a:xfrm>
            <a:off x="4754880" y="3438144"/>
            <a:ext cx="4160520" cy="59436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54" name="Shape 52"/>
          <p:cNvSpPr/>
          <p:nvPr/>
        </p:nvSpPr>
        <p:spPr>
          <a:xfrm>
            <a:off x="4754880" y="3438144"/>
            <a:ext cx="64008" cy="594360"/>
          </a:xfrm>
          <a:prstGeom prst="rect">
            <a:avLst/>
          </a:prstGeom>
          <a:solidFill>
            <a:srgbClr val="F5A623"/>
          </a:solidFill>
        </p:spPr>
      </p:sp>
      <p:sp>
        <p:nvSpPr>
          <p:cNvPr id="55" name="Text 53"/>
          <p:cNvSpPr/>
          <p:nvPr/>
        </p:nvSpPr>
        <p:spPr>
          <a:xfrm>
            <a:off x="4919472" y="3493008"/>
            <a:ext cx="237744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2183A"/>
                </a:solidFill>
              </a:rPr>
              <a:t>Chocolates (KitKat, Oreo)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4919472" y="3730752"/>
            <a:ext cx="274320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Bottom 10 profit, impulse buy, low basket value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7726680" y="3593592"/>
            <a:ext cx="1097280" cy="256032"/>
          </a:xfrm>
          <a:prstGeom prst="rect">
            <a:avLst/>
          </a:prstGeom>
          <a:solidFill>
            <a:srgbClr val="F5A623"/>
          </a:solidFill>
        </p:spPr>
      </p:sp>
      <p:sp>
        <p:nvSpPr>
          <p:cNvPr id="58" name="Text 56"/>
          <p:cNvSpPr/>
          <p:nvPr/>
        </p:nvSpPr>
        <p:spPr>
          <a:xfrm>
            <a:off x="7726680" y="3593592"/>
            <a:ext cx="10972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REDUCE</a:t>
            </a:r>
            <a:endParaRPr lang="en-US" sz="700" dirty="0"/>
          </a:p>
        </p:txBody>
      </p:sp>
      <p:sp>
        <p:nvSpPr>
          <p:cNvPr id="59" name="Shape 57"/>
          <p:cNvSpPr/>
          <p:nvPr/>
        </p:nvSpPr>
        <p:spPr>
          <a:xfrm>
            <a:off x="4754880" y="4096512"/>
            <a:ext cx="4160520" cy="594360"/>
          </a:xfrm>
          <a:prstGeom prst="rect">
            <a:avLst/>
          </a:prstGeom>
          <a:solidFill>
            <a:srgbClr val="FFF1F2"/>
          </a:solidFill>
        </p:spPr>
      </p:sp>
      <p:sp>
        <p:nvSpPr>
          <p:cNvPr id="60" name="Shape 58"/>
          <p:cNvSpPr/>
          <p:nvPr/>
        </p:nvSpPr>
        <p:spPr>
          <a:xfrm>
            <a:off x="4754880" y="4096512"/>
            <a:ext cx="64008" cy="594360"/>
          </a:xfrm>
          <a:prstGeom prst="rect">
            <a:avLst/>
          </a:prstGeom>
          <a:solidFill>
            <a:srgbClr val="F5A623"/>
          </a:solidFill>
        </p:spPr>
      </p:sp>
      <p:sp>
        <p:nvSpPr>
          <p:cNvPr id="61" name="Text 59"/>
          <p:cNvSpPr/>
          <p:nvPr/>
        </p:nvSpPr>
        <p:spPr>
          <a:xfrm>
            <a:off x="4919472" y="4151376"/>
            <a:ext cx="237744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2183A"/>
                </a:solidFill>
              </a:rPr>
              <a:t>Stationery (Classmate)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4919472" y="4389120"/>
            <a:ext cx="274320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Low revenue ₹14L, seasonal, C-class products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7726680" y="4251960"/>
            <a:ext cx="1097280" cy="256032"/>
          </a:xfrm>
          <a:prstGeom prst="rect">
            <a:avLst/>
          </a:prstGeom>
          <a:solidFill>
            <a:srgbClr val="F5A623"/>
          </a:solidFill>
        </p:spPr>
      </p:sp>
      <p:sp>
        <p:nvSpPr>
          <p:cNvPr id="64" name="Text 62"/>
          <p:cNvSpPr/>
          <p:nvPr/>
        </p:nvSpPr>
        <p:spPr>
          <a:xfrm>
            <a:off x="7726680" y="4251960"/>
            <a:ext cx="10972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REDUCE</a:t>
            </a:r>
            <a:endParaRPr lang="en-US" sz="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2183A"/>
          </a:solidFill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BUSINESS QUESTIONS — ANSWERED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74320" y="685800"/>
            <a:ext cx="2194560" cy="256032"/>
          </a:xfrm>
          <a:prstGeom prst="rect">
            <a:avLst/>
          </a:prstGeom>
          <a:solidFill>
            <a:srgbClr val="F5A623"/>
          </a:solidFill>
        </p:spPr>
      </p:sp>
      <p:sp>
        <p:nvSpPr>
          <p:cNvPr id="5" name="Text 3"/>
          <p:cNvSpPr/>
          <p:nvPr/>
        </p:nvSpPr>
        <p:spPr>
          <a:xfrm>
            <a:off x="274320" y="685800"/>
            <a:ext cx="21945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12183A"/>
                </a:solidFill>
              </a:rPr>
              <a:t>7 KEY BUSINESS Q&amp;A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182880" y="987552"/>
            <a:ext cx="8778240" cy="530352"/>
          </a:xfrm>
          <a:prstGeom prst="rect">
            <a:avLst/>
          </a:prstGeom>
          <a:solidFill>
            <a:srgbClr val="F4F6FC"/>
          </a:solidFill>
        </p:spPr>
      </p:sp>
      <p:sp>
        <p:nvSpPr>
          <p:cNvPr id="7" name="Shape 5"/>
          <p:cNvSpPr/>
          <p:nvPr/>
        </p:nvSpPr>
        <p:spPr>
          <a:xfrm>
            <a:off x="182880" y="987552"/>
            <a:ext cx="64008" cy="530352"/>
          </a:xfrm>
          <a:prstGeom prst="rect">
            <a:avLst/>
          </a:prstGeom>
          <a:solidFill>
            <a:srgbClr val="F5A623"/>
          </a:solidFill>
        </p:spPr>
      </p:sp>
      <p:sp>
        <p:nvSpPr>
          <p:cNvPr id="8" name="Text 6"/>
          <p:cNvSpPr/>
          <p:nvPr/>
        </p:nvSpPr>
        <p:spPr>
          <a:xfrm>
            <a:off x="338328" y="1024128"/>
            <a:ext cx="292608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2183A"/>
                </a:solidFill>
              </a:rPr>
              <a:t>Q1. How many products fall in A, B, C?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38328" y="1243584"/>
            <a:ext cx="841248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9488"/>
                </a:solidFill>
              </a:rPr>
              <a:t>▶ A = 27 products (70% revenue) | B = 18 products (20%) | C = 20 products (10%)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182880" y="1581912"/>
            <a:ext cx="8778240" cy="530352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1" name="Shape 9"/>
          <p:cNvSpPr/>
          <p:nvPr/>
        </p:nvSpPr>
        <p:spPr>
          <a:xfrm>
            <a:off x="182880" y="1581912"/>
            <a:ext cx="64008" cy="530352"/>
          </a:xfrm>
          <a:prstGeom prst="rect">
            <a:avLst/>
          </a:prstGeom>
          <a:solidFill>
            <a:srgbClr val="F5A623"/>
          </a:solidFill>
        </p:spPr>
      </p:sp>
      <p:sp>
        <p:nvSpPr>
          <p:cNvPr id="12" name="Text 10"/>
          <p:cNvSpPr/>
          <p:nvPr/>
        </p:nvSpPr>
        <p:spPr>
          <a:xfrm>
            <a:off x="338328" y="1618488"/>
            <a:ext cx="292608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2183A"/>
                </a:solidFill>
              </a:rPr>
              <a:t>Q2. Which product generates the highest profit?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38328" y="1837944"/>
            <a:ext cx="841248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9488"/>
                </a:solidFill>
              </a:rPr>
              <a:t>▶ Pampers Small 52-Pack — ₹9.45 Lakhs profit | 49.4% margin | Class A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182880" y="2176272"/>
            <a:ext cx="8778240" cy="530352"/>
          </a:xfrm>
          <a:prstGeom prst="rect">
            <a:avLst/>
          </a:prstGeom>
          <a:solidFill>
            <a:srgbClr val="F4F6FC"/>
          </a:solidFill>
        </p:spPr>
      </p:sp>
      <p:sp>
        <p:nvSpPr>
          <p:cNvPr id="15" name="Shape 13"/>
          <p:cNvSpPr/>
          <p:nvPr/>
        </p:nvSpPr>
        <p:spPr>
          <a:xfrm>
            <a:off x="182880" y="2176272"/>
            <a:ext cx="64008" cy="530352"/>
          </a:xfrm>
          <a:prstGeom prst="rect">
            <a:avLst/>
          </a:prstGeom>
          <a:solidFill>
            <a:srgbClr val="F5A623"/>
          </a:solidFill>
        </p:spPr>
      </p:sp>
      <p:sp>
        <p:nvSpPr>
          <p:cNvPr id="16" name="Text 14"/>
          <p:cNvSpPr/>
          <p:nvPr/>
        </p:nvSpPr>
        <p:spPr>
          <a:xfrm>
            <a:off x="338328" y="2212848"/>
            <a:ext cx="292608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2183A"/>
                </a:solidFill>
              </a:rPr>
              <a:t>Q3. Lowest profit margin product? Discontinue?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38328" y="2432304"/>
            <a:ext cx="841248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9488"/>
                </a:solidFill>
              </a:rPr>
              <a:t>▶ Lays Classic 90g — 44.4% margin. Review recommended; low absolute profit ₹0.48L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182880" y="2770632"/>
            <a:ext cx="8778240" cy="530352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9" name="Shape 17"/>
          <p:cNvSpPr/>
          <p:nvPr/>
        </p:nvSpPr>
        <p:spPr>
          <a:xfrm>
            <a:off x="182880" y="2770632"/>
            <a:ext cx="64008" cy="530352"/>
          </a:xfrm>
          <a:prstGeom prst="rect">
            <a:avLst/>
          </a:prstGeom>
          <a:solidFill>
            <a:srgbClr val="F5A623"/>
          </a:solidFill>
        </p:spPr>
      </p:sp>
      <p:sp>
        <p:nvSpPr>
          <p:cNvPr id="20" name="Text 18"/>
          <p:cNvSpPr/>
          <p:nvPr/>
        </p:nvSpPr>
        <p:spPr>
          <a:xfrm>
            <a:off x="338328" y="2807208"/>
            <a:ext cx="292608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2183A"/>
                </a:solidFill>
              </a:rPr>
              <a:t>Q4. Does higher discount = lower margin?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338328" y="3026664"/>
            <a:ext cx="841248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9488"/>
                </a:solidFill>
              </a:rPr>
              <a:t>▶ YES. 0% disc = 54.9% margin | 10% disc = 50.6% | 20% disc = 44.2% — clear negative correlation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182880" y="3364992"/>
            <a:ext cx="8778240" cy="530352"/>
          </a:xfrm>
          <a:prstGeom prst="rect">
            <a:avLst/>
          </a:prstGeom>
          <a:solidFill>
            <a:srgbClr val="F4F6FC"/>
          </a:solidFill>
        </p:spPr>
      </p:sp>
      <p:sp>
        <p:nvSpPr>
          <p:cNvPr id="23" name="Shape 21"/>
          <p:cNvSpPr/>
          <p:nvPr/>
        </p:nvSpPr>
        <p:spPr>
          <a:xfrm>
            <a:off x="182880" y="3364992"/>
            <a:ext cx="64008" cy="530352"/>
          </a:xfrm>
          <a:prstGeom prst="rect">
            <a:avLst/>
          </a:prstGeom>
          <a:solidFill>
            <a:srgbClr val="F5A623"/>
          </a:solidFill>
        </p:spPr>
      </p:sp>
      <p:sp>
        <p:nvSpPr>
          <p:cNvPr id="24" name="Text 22"/>
          <p:cNvSpPr/>
          <p:nvPr/>
        </p:nvSpPr>
        <p:spPr>
          <a:xfrm>
            <a:off x="338328" y="3401568"/>
            <a:ext cx="292608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2183A"/>
                </a:solidFill>
              </a:rPr>
              <a:t>Q5. Sub-category with best avg margin %?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338328" y="3621024"/>
            <a:ext cx="841248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9488"/>
                </a:solidFill>
              </a:rPr>
              <a:t>▶ Rice &amp; Grains — 54.0% avg margin. Followed by Spices (53.9%) and Pulses (52.2%)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182880" y="3959352"/>
            <a:ext cx="8778240" cy="530352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7" name="Shape 25"/>
          <p:cNvSpPr/>
          <p:nvPr/>
        </p:nvSpPr>
        <p:spPr>
          <a:xfrm>
            <a:off x="182880" y="3959352"/>
            <a:ext cx="64008" cy="530352"/>
          </a:xfrm>
          <a:prstGeom prst="rect">
            <a:avLst/>
          </a:prstGeom>
          <a:solidFill>
            <a:srgbClr val="F5A623"/>
          </a:solidFill>
        </p:spPr>
      </p:sp>
      <p:sp>
        <p:nvSpPr>
          <p:cNvPr id="28" name="Text 26"/>
          <p:cNvSpPr/>
          <p:nvPr/>
        </p:nvSpPr>
        <p:spPr>
          <a:xfrm>
            <a:off x="338328" y="3995928"/>
            <a:ext cx="292608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2183A"/>
                </a:solidFill>
              </a:rPr>
              <a:t>Q6. High return rate products — recommendation?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338328" y="4215384"/>
            <a:ext cx="841248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9488"/>
                </a:solidFill>
              </a:rPr>
              <a:t>▶ McCain Fries (11.1%), Chana Dal (11.0%), Bournvita (10.7%) — Quality audit &amp; cold chain review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182880" y="4553712"/>
            <a:ext cx="8778240" cy="530352"/>
          </a:xfrm>
          <a:prstGeom prst="rect">
            <a:avLst/>
          </a:prstGeom>
          <a:solidFill>
            <a:srgbClr val="F4F6FC"/>
          </a:solidFill>
        </p:spPr>
      </p:sp>
      <p:sp>
        <p:nvSpPr>
          <p:cNvPr id="31" name="Shape 29"/>
          <p:cNvSpPr/>
          <p:nvPr/>
        </p:nvSpPr>
        <p:spPr>
          <a:xfrm>
            <a:off x="182880" y="4553712"/>
            <a:ext cx="64008" cy="530352"/>
          </a:xfrm>
          <a:prstGeom prst="rect">
            <a:avLst/>
          </a:prstGeom>
          <a:solidFill>
            <a:srgbClr val="F5A623"/>
          </a:solidFill>
        </p:spPr>
      </p:sp>
      <p:sp>
        <p:nvSpPr>
          <p:cNvPr id="32" name="Text 30"/>
          <p:cNvSpPr/>
          <p:nvPr/>
        </p:nvSpPr>
        <p:spPr>
          <a:xfrm>
            <a:off x="338328" y="4590288"/>
            <a:ext cx="292608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2183A"/>
                </a:solidFill>
              </a:rPr>
              <a:t>Q7. If we remove C products, % revenue lost?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338328" y="4809744"/>
            <a:ext cx="841248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9488"/>
                </a:solidFill>
              </a:rPr>
              <a:t>▶ Only 10.8% revenue lost (₹4.09 Cr of ₹38 Cr) — low cost, high operational benefit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2183A"/>
          </a:solidFill>
        </p:spPr>
      </p:sp>
      <p:sp>
        <p:nvSpPr>
          <p:cNvPr id="3" name="Text 1"/>
          <p:cNvSpPr/>
          <p:nvPr/>
        </p:nvSpPr>
        <p:spPr>
          <a:xfrm>
            <a:off x="274320" y="0"/>
            <a:ext cx="54864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📊  EXECUTIVE DASHBOARD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0" y="0"/>
            <a:ext cx="33832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FFC85A"/>
                </a:solidFill>
              </a:rPr>
              <a:t>SuperMart | Product Profitability Overview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164592" y="749808"/>
            <a:ext cx="1627632" cy="960120"/>
          </a:xfrm>
          <a:prstGeom prst="rect">
            <a:avLst/>
          </a:prstGeom>
          <a:solidFill>
            <a:srgbClr val="12183A"/>
          </a:solidFill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64592" y="822960"/>
            <a:ext cx="1627632" cy="52806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₹3.8 Cr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64592" y="1277874"/>
            <a:ext cx="1627632" cy="24003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FFFFFF"/>
                </a:solidFill>
              </a:rPr>
              <a:t>TOTAL REVENUE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64592" y="1498702"/>
            <a:ext cx="1627632" cy="1920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FY 2022–24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1938528" y="749808"/>
            <a:ext cx="1627632" cy="960120"/>
          </a:xfrm>
          <a:prstGeom prst="rect">
            <a:avLst/>
          </a:prstGeom>
          <a:solidFill>
            <a:srgbClr val="2E4FA3"/>
          </a:solidFill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938528" y="822960"/>
            <a:ext cx="1627632" cy="52806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₹1.93 Cr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938528" y="1277874"/>
            <a:ext cx="1627632" cy="24003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FFFFFF"/>
                </a:solidFill>
              </a:rPr>
              <a:t>TOTAL PROFIT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938528" y="1498702"/>
            <a:ext cx="1627632" cy="1920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Overall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712464" y="749808"/>
            <a:ext cx="1627632" cy="960120"/>
          </a:xfrm>
          <a:prstGeom prst="rect">
            <a:avLst/>
          </a:prstGeom>
          <a:solidFill>
            <a:srgbClr val="0D9488"/>
          </a:solidFill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712464" y="822960"/>
            <a:ext cx="1627632" cy="52806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50.8%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3712464" y="1277874"/>
            <a:ext cx="1627632" cy="24003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FFFFFF"/>
                </a:solidFill>
              </a:rPr>
              <a:t>AVG MARGIN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712464" y="1498702"/>
            <a:ext cx="1627632" cy="1920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Across all products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5486400" y="749808"/>
            <a:ext cx="1627632" cy="960120"/>
          </a:xfrm>
          <a:prstGeom prst="rect">
            <a:avLst/>
          </a:prstGeom>
          <a:solidFill>
            <a:srgbClr val="8B5CF6"/>
          </a:solidFill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486400" y="822960"/>
            <a:ext cx="1627632" cy="52806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65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5486400" y="1277874"/>
            <a:ext cx="1627632" cy="24003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FFFFFF"/>
                </a:solidFill>
              </a:rPr>
              <a:t>PRODUCTS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486400" y="1506322"/>
            <a:ext cx="1627632" cy="1920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10 Ca``tegories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7260336" y="749808"/>
            <a:ext cx="1627632" cy="960120"/>
          </a:xfrm>
          <a:prstGeom prst="rect">
            <a:avLst/>
          </a:prstGeom>
          <a:solidFill>
            <a:srgbClr val="F5A623"/>
          </a:solidFill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260336" y="822960"/>
            <a:ext cx="1627632" cy="52806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2183A"/>
                </a:solidFill>
              </a:rPr>
              <a:t>50K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7260336" y="1277874"/>
            <a:ext cx="1627632" cy="24003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12183A"/>
                </a:solidFill>
              </a:rPr>
              <a:t>ORDERS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260336" y="1498702"/>
            <a:ext cx="1627632" cy="1920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2183A"/>
                </a:solidFill>
              </a:rPr>
              <a:t>3 Years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164592" y="1920240"/>
            <a:ext cx="4114800" cy="210312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274320" y="1965960"/>
            <a:ext cx="38404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12183A"/>
                </a:solidFill>
              </a:rPr>
              <a:t>ABC CLASSIFICATION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74320" y="2331720"/>
            <a:ext cx="292608" cy="329184"/>
          </a:xfrm>
          <a:prstGeom prst="rect">
            <a:avLst/>
          </a:prstGeom>
          <a:solidFill>
            <a:srgbClr val="22C55E"/>
          </a:solidFill>
        </p:spPr>
      </p:sp>
      <p:sp>
        <p:nvSpPr>
          <p:cNvPr id="28" name="Text 26"/>
          <p:cNvSpPr/>
          <p:nvPr/>
        </p:nvSpPr>
        <p:spPr>
          <a:xfrm>
            <a:off x="621792" y="2359152"/>
            <a:ext cx="210312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2183A"/>
                </a:solidFill>
              </a:rPr>
              <a:t>A — Top Performers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21792" y="2514600"/>
            <a:ext cx="2103120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27 products | Rev: 70%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2743200" y="2386584"/>
            <a:ext cx="1088136" cy="228600"/>
          </a:xfrm>
          <a:prstGeom prst="rect">
            <a:avLst/>
          </a:prstGeom>
          <a:solidFill>
            <a:srgbClr val="22C55E"/>
          </a:solidFill>
        </p:spPr>
      </p:sp>
      <p:sp>
        <p:nvSpPr>
          <p:cNvPr id="31" name="Text 29"/>
          <p:cNvSpPr/>
          <p:nvPr/>
        </p:nvSpPr>
        <p:spPr>
          <a:xfrm>
            <a:off x="3877056" y="2386584"/>
            <a:ext cx="36576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2C55E"/>
                </a:solidFill>
              </a:rPr>
              <a:t>70%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274320" y="2852928"/>
            <a:ext cx="292608" cy="329184"/>
          </a:xfrm>
          <a:prstGeom prst="rect">
            <a:avLst/>
          </a:prstGeom>
          <a:solidFill>
            <a:srgbClr val="F5A623"/>
          </a:solidFill>
        </p:spPr>
      </p:sp>
      <p:sp>
        <p:nvSpPr>
          <p:cNvPr id="33" name="Text 31"/>
          <p:cNvSpPr/>
          <p:nvPr/>
        </p:nvSpPr>
        <p:spPr>
          <a:xfrm>
            <a:off x="621792" y="2880360"/>
            <a:ext cx="210312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2183A"/>
                </a:solidFill>
              </a:rPr>
              <a:t>B — Mid Tier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21792" y="3035808"/>
            <a:ext cx="2103120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18 products | Rev: 20%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2743200" y="2907792"/>
            <a:ext cx="310896" cy="228600"/>
          </a:xfrm>
          <a:prstGeom prst="rect">
            <a:avLst/>
          </a:prstGeom>
          <a:solidFill>
            <a:srgbClr val="F5A623"/>
          </a:solidFill>
        </p:spPr>
      </p:sp>
      <p:sp>
        <p:nvSpPr>
          <p:cNvPr id="36" name="Text 34"/>
          <p:cNvSpPr/>
          <p:nvPr/>
        </p:nvSpPr>
        <p:spPr>
          <a:xfrm>
            <a:off x="3099816" y="2907792"/>
            <a:ext cx="36576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5A623"/>
                </a:solidFill>
              </a:rPr>
              <a:t>20%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274320" y="3374136"/>
            <a:ext cx="292608" cy="329184"/>
          </a:xfrm>
          <a:prstGeom prst="rect">
            <a:avLst/>
          </a:prstGeom>
          <a:solidFill>
            <a:srgbClr val="EF4444"/>
          </a:solidFill>
        </p:spPr>
      </p:sp>
      <p:sp>
        <p:nvSpPr>
          <p:cNvPr id="38" name="Text 36"/>
          <p:cNvSpPr/>
          <p:nvPr/>
        </p:nvSpPr>
        <p:spPr>
          <a:xfrm>
            <a:off x="621792" y="3401568"/>
            <a:ext cx="210312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2183A"/>
                </a:solidFill>
              </a:rPr>
              <a:t>C — Low Contribution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21792" y="3557016"/>
            <a:ext cx="2103120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20 products | Rev: 10%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2743200" y="3429000"/>
            <a:ext cx="155448" cy="228600"/>
          </a:xfrm>
          <a:prstGeom prst="rect">
            <a:avLst/>
          </a:prstGeom>
          <a:solidFill>
            <a:srgbClr val="EF4444"/>
          </a:solidFill>
        </p:spPr>
      </p:sp>
      <p:sp>
        <p:nvSpPr>
          <p:cNvPr id="41" name="Text 39"/>
          <p:cNvSpPr/>
          <p:nvPr/>
        </p:nvSpPr>
        <p:spPr>
          <a:xfrm>
            <a:off x="2944368" y="3429000"/>
            <a:ext cx="36576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EF4444"/>
                </a:solidFill>
              </a:rPr>
              <a:t>10%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4572000" y="1920240"/>
            <a:ext cx="4389120" cy="210312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4681728" y="1965960"/>
            <a:ext cx="41148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12183A"/>
                </a:solidFill>
              </a:rPr>
              <a:t>TOP 5 PRODUCTS BY PROFIT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681728" y="2304288"/>
            <a:ext cx="201168" cy="2468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2C55E"/>
                </a:solidFill>
              </a:rPr>
              <a:t>1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919472" y="2304288"/>
            <a:ext cx="2743200" cy="2468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2183A"/>
                </a:solidFill>
              </a:rPr>
              <a:t>Pampers Small 52-Pack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7818120" y="2340864"/>
            <a:ext cx="640080" cy="182880"/>
          </a:xfrm>
          <a:prstGeom prst="rect">
            <a:avLst/>
          </a:prstGeom>
          <a:solidFill>
            <a:srgbClr val="22C55E"/>
          </a:solidFill>
        </p:spPr>
      </p:sp>
      <p:sp>
        <p:nvSpPr>
          <p:cNvPr id="47" name="Text 45"/>
          <p:cNvSpPr/>
          <p:nvPr/>
        </p:nvSpPr>
        <p:spPr>
          <a:xfrm>
            <a:off x="7818120" y="2340864"/>
            <a:ext cx="64008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₹9.45L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4681728" y="2642616"/>
            <a:ext cx="201168" cy="2468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2C55E"/>
                </a:solidFill>
              </a:rPr>
              <a:t>2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4919472" y="2642616"/>
            <a:ext cx="2743200" cy="2468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2183A"/>
                </a:solidFill>
              </a:rPr>
              <a:t>Huggies Medium 44-Pack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7818120" y="2679192"/>
            <a:ext cx="640080" cy="182880"/>
          </a:xfrm>
          <a:prstGeom prst="rect">
            <a:avLst/>
          </a:prstGeom>
          <a:solidFill>
            <a:srgbClr val="22C55E"/>
          </a:solidFill>
        </p:spPr>
      </p:sp>
      <p:sp>
        <p:nvSpPr>
          <p:cNvPr id="51" name="Text 49"/>
          <p:cNvSpPr/>
          <p:nvPr/>
        </p:nvSpPr>
        <p:spPr>
          <a:xfrm>
            <a:off x="7818120" y="2679192"/>
            <a:ext cx="64008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₹8.88L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4681728" y="2980944"/>
            <a:ext cx="201168" cy="2468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2C55E"/>
                </a:solidFill>
              </a:rPr>
              <a:t>3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4919472" y="2980944"/>
            <a:ext cx="2743200" cy="2468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2183A"/>
                </a:solidFill>
              </a:rPr>
              <a:t>Wheat Flour 10kg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7818120" y="3017520"/>
            <a:ext cx="640080" cy="182880"/>
          </a:xfrm>
          <a:prstGeom prst="rect">
            <a:avLst/>
          </a:prstGeom>
          <a:solidFill>
            <a:srgbClr val="22C55E"/>
          </a:solidFill>
        </p:spPr>
      </p:sp>
      <p:sp>
        <p:nvSpPr>
          <p:cNvPr id="55" name="Text 53"/>
          <p:cNvSpPr/>
          <p:nvPr/>
        </p:nvSpPr>
        <p:spPr>
          <a:xfrm>
            <a:off x="7818120" y="3017520"/>
            <a:ext cx="64008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₹8.03L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4681728" y="3319272"/>
            <a:ext cx="201168" cy="2468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E4FA3"/>
                </a:solidFill>
              </a:rPr>
              <a:t>4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4919472" y="3319272"/>
            <a:ext cx="2743200" cy="2468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2183A"/>
                </a:solidFill>
              </a:rPr>
              <a:t>Ariel Powder 2kg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7818120" y="3355848"/>
            <a:ext cx="640080" cy="182880"/>
          </a:xfrm>
          <a:prstGeom prst="rect">
            <a:avLst/>
          </a:prstGeom>
          <a:solidFill>
            <a:srgbClr val="2E4FA3"/>
          </a:solidFill>
        </p:spPr>
      </p:sp>
      <p:sp>
        <p:nvSpPr>
          <p:cNvPr id="59" name="Text 57"/>
          <p:cNvSpPr/>
          <p:nvPr/>
        </p:nvSpPr>
        <p:spPr>
          <a:xfrm>
            <a:off x="7818120" y="3355848"/>
            <a:ext cx="64008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₹6.16L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4681728" y="3657600"/>
            <a:ext cx="201168" cy="2468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E4FA3"/>
                </a:solidFill>
              </a:rPr>
              <a:t>5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4919472" y="3657600"/>
            <a:ext cx="2743200" cy="2468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2183A"/>
                </a:solidFill>
              </a:rPr>
              <a:t>Basmati Rice 5kg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7818120" y="3694176"/>
            <a:ext cx="640080" cy="182880"/>
          </a:xfrm>
          <a:prstGeom prst="rect">
            <a:avLst/>
          </a:prstGeom>
          <a:solidFill>
            <a:srgbClr val="2E4FA3"/>
          </a:solidFill>
        </p:spPr>
      </p:sp>
      <p:sp>
        <p:nvSpPr>
          <p:cNvPr id="63" name="Text 61"/>
          <p:cNvSpPr/>
          <p:nvPr/>
        </p:nvSpPr>
        <p:spPr>
          <a:xfrm>
            <a:off x="7818120" y="3694176"/>
            <a:ext cx="64008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₹6.07L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164592" y="4160520"/>
            <a:ext cx="4114800" cy="804672"/>
          </a:xfrm>
          <a:prstGeom prst="rect">
            <a:avLst/>
          </a:prstGeom>
          <a:solidFill>
            <a:srgbClr val="12183A"/>
          </a:solidFill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5" name="Text 63"/>
          <p:cNvSpPr/>
          <p:nvPr/>
        </p:nvSpPr>
        <p:spPr>
          <a:xfrm>
            <a:off x="274320" y="4187952"/>
            <a:ext cx="384048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F5A623"/>
                </a:solidFill>
              </a:rPr>
              <a:t>DISCOUNT → MARGIN IMPACT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274320" y="4407408"/>
            <a:ext cx="1188720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AABBD4"/>
                </a:solidFill>
              </a:rPr>
              <a:t>0% Disc</a:t>
            </a:r>
            <a:endParaRPr lang="en-US" sz="750" dirty="0"/>
          </a:p>
        </p:txBody>
      </p:sp>
      <p:sp>
        <p:nvSpPr>
          <p:cNvPr id="67" name="Text 65"/>
          <p:cNvSpPr/>
          <p:nvPr/>
        </p:nvSpPr>
        <p:spPr>
          <a:xfrm>
            <a:off x="274320" y="4562856"/>
            <a:ext cx="118872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54.9%</a:t>
            </a:r>
            <a:endParaRPr lang="en-US" sz="1100" dirty="0"/>
          </a:p>
        </p:txBody>
      </p:sp>
      <p:sp>
        <p:nvSpPr>
          <p:cNvPr id="68" name="Text 66"/>
          <p:cNvSpPr/>
          <p:nvPr/>
        </p:nvSpPr>
        <p:spPr>
          <a:xfrm>
            <a:off x="1581912" y="4407408"/>
            <a:ext cx="1188720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AABBD4"/>
                </a:solidFill>
              </a:rPr>
              <a:t>10%</a:t>
            </a:r>
            <a:endParaRPr lang="en-US" sz="750" dirty="0"/>
          </a:p>
        </p:txBody>
      </p:sp>
      <p:sp>
        <p:nvSpPr>
          <p:cNvPr id="69" name="Text 67"/>
          <p:cNvSpPr/>
          <p:nvPr/>
        </p:nvSpPr>
        <p:spPr>
          <a:xfrm>
            <a:off x="1581912" y="4562856"/>
            <a:ext cx="118872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50.6%</a:t>
            </a:r>
            <a:endParaRPr lang="en-US" sz="1100" dirty="0"/>
          </a:p>
        </p:txBody>
      </p:sp>
      <p:sp>
        <p:nvSpPr>
          <p:cNvPr id="70" name="Text 68"/>
          <p:cNvSpPr/>
          <p:nvPr/>
        </p:nvSpPr>
        <p:spPr>
          <a:xfrm>
            <a:off x="2889504" y="4407408"/>
            <a:ext cx="1188720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AABBD4"/>
                </a:solidFill>
              </a:rPr>
              <a:t>20%</a:t>
            </a:r>
            <a:endParaRPr lang="en-US" sz="750" dirty="0"/>
          </a:p>
        </p:txBody>
      </p:sp>
      <p:sp>
        <p:nvSpPr>
          <p:cNvPr id="71" name="Text 69"/>
          <p:cNvSpPr/>
          <p:nvPr/>
        </p:nvSpPr>
        <p:spPr>
          <a:xfrm>
            <a:off x="2889504" y="4562856"/>
            <a:ext cx="118872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44.2%</a:t>
            </a:r>
            <a:endParaRPr lang="en-US" sz="1100" dirty="0"/>
          </a:p>
        </p:txBody>
      </p:sp>
      <p:sp>
        <p:nvSpPr>
          <p:cNvPr id="72" name="Shape 70"/>
          <p:cNvSpPr/>
          <p:nvPr/>
        </p:nvSpPr>
        <p:spPr>
          <a:xfrm>
            <a:off x="4572000" y="4160520"/>
            <a:ext cx="4389120" cy="804672"/>
          </a:xfrm>
          <a:prstGeom prst="rect">
            <a:avLst/>
          </a:prstGeom>
          <a:solidFill>
            <a:srgbClr val="0D9488"/>
          </a:solidFill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73" name="Text 71"/>
          <p:cNvSpPr/>
          <p:nvPr/>
        </p:nvSpPr>
        <p:spPr>
          <a:xfrm>
            <a:off x="4681728" y="4187952"/>
            <a:ext cx="41148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FFFFFF"/>
                </a:solidFill>
              </a:rPr>
              <a:t>KEY INSIGHT</a:t>
            </a:r>
            <a:endParaRPr lang="en-US" sz="800" dirty="0"/>
          </a:p>
        </p:txBody>
      </p:sp>
      <p:sp>
        <p:nvSpPr>
          <p:cNvPr id="74" name="Text 72"/>
          <p:cNvSpPr/>
          <p:nvPr/>
        </p:nvSpPr>
        <p:spPr>
          <a:xfrm>
            <a:off x="4681728" y="4370832"/>
            <a:ext cx="41148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FFFFFF"/>
                </a:solidFill>
              </a:rPr>
              <a:t>Top 27 'A' products drive 70% of revenue. Removing bottom 20 'C' products saves cost while losing only 10.8% revenue. Rice &amp; Grains sub-category leads with 54% avg margin.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8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286000"/>
            <a:ext cx="9144000" cy="73152"/>
          </a:xfrm>
          <a:prstGeom prst="rect">
            <a:avLst/>
          </a:prstGeom>
          <a:solidFill>
            <a:srgbClr val="F5A623"/>
          </a:solidFill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400" dirty="0">
                <a:solidFill>
                  <a:srgbClr val="F5A623"/>
                </a:solidFill>
              </a:rPr>
              <a:t>CASE STUDY 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96112"/>
            <a:ext cx="8229600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</a:rPr>
              <a:t>Product Profitability</a:t>
            </a:r>
            <a:endParaRPr lang="en-US" sz="38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</a:rPr>
              <a:t>&amp; ABC Analysis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57200" y="2468880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800" dirty="0">
                <a:solidFill>
                  <a:srgbClr val="F5A623"/>
                </a:solidFill>
              </a:rPr>
              <a:t>COMPLETE    THANKYOU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3063240"/>
            <a:ext cx="1920240" cy="1005840"/>
          </a:xfrm>
          <a:prstGeom prst="rect">
            <a:avLst/>
          </a:prstGeom>
          <a:solidFill>
            <a:srgbClr val="1E2B54"/>
          </a:solidFill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3127248"/>
            <a:ext cx="19202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A623"/>
                </a:solidFill>
              </a:rPr>
              <a:t>A=27 | B=18 | C=20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3630168"/>
            <a:ext cx="19202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ABBD4"/>
                </a:solidFill>
              </a:rPr>
              <a:t>ABC Classification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606040" y="3063240"/>
            <a:ext cx="1920240" cy="1005840"/>
          </a:xfrm>
          <a:prstGeom prst="rect">
            <a:avLst/>
          </a:prstGeom>
          <a:solidFill>
            <a:srgbClr val="1E2B54"/>
          </a:solidFill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606040" y="3127248"/>
            <a:ext cx="19202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A623"/>
                </a:solidFill>
              </a:rPr>
              <a:t>₹9.45L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606040" y="3630168"/>
            <a:ext cx="19202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ABBD4"/>
                </a:solidFill>
              </a:rPr>
              <a:t>Highest Profit Product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754880" y="3063240"/>
            <a:ext cx="1920240" cy="1005840"/>
          </a:xfrm>
          <a:prstGeom prst="rect">
            <a:avLst/>
          </a:prstGeom>
          <a:solidFill>
            <a:srgbClr val="1E2B54"/>
          </a:solidFill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754880" y="3127248"/>
            <a:ext cx="19202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A623"/>
                </a:solidFill>
              </a:rPr>
              <a:t>54.0%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754880" y="3630168"/>
            <a:ext cx="19202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ABBD4"/>
                </a:solidFill>
              </a:rPr>
              <a:t>Best Sub-Cat Margin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6903720" y="3063240"/>
            <a:ext cx="1920240" cy="1005840"/>
          </a:xfrm>
          <a:prstGeom prst="rect">
            <a:avLst/>
          </a:prstGeom>
          <a:solidFill>
            <a:srgbClr val="1E2B54"/>
          </a:solidFill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903720" y="3127248"/>
            <a:ext cx="19202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A623"/>
                </a:solidFill>
              </a:rPr>
              <a:t>10.8%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903720" y="3630168"/>
            <a:ext cx="19202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ABBD4"/>
                </a:solidFill>
              </a:rPr>
              <a:t>Revenue if C removed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4A6285"/>
                </a:solidFill>
              </a:rPr>
              <a:t>SuperMart Data Analytics | 50,000 Orders | FY 2022–2024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7856</Words>
  <Application>WPS Presentation</Application>
  <PresentationFormat>On-screen Show (16:9)</PresentationFormat>
  <Paragraphs>1133</Paragraphs>
  <Slides>15</Slides>
  <Notes>17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3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SuperMart Case Study 3 – Product Profitability &amp; ABC Analysis</dc:title>
  <dc:creator>PptxGenJS</dc:creator>
  <dc:subject>PptxGenJS Presentation</dc:subject>
  <cp:lastModifiedBy>MADHESH_HOPE_01</cp:lastModifiedBy>
  <cp:revision>4</cp:revision>
  <dcterms:created xsi:type="dcterms:W3CDTF">2026-05-22T03:11:00Z</dcterms:created>
  <dcterms:modified xsi:type="dcterms:W3CDTF">2026-08-12T08:14:08Z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992E87F9A7B448908F26782F19538281_12</vt:lpwstr>
  </property>
  <property fmtid="{D5CDD505-2E9C-101B-9397-08002B2CF9AE}" pid="3" name="KSOProductBuildVer">
    <vt:lpwstr>1033-12.1.0.28032</vt:lpwstr>
  </property>
</Properties>
</file>